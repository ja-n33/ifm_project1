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Darin Bisert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5T13:14:57.362">
    <p:pos x="309" y="249"/>
    <p:text>On this slide will we also add related literature and how this paper connects with topics discussed in class? i think for related literature we can include some directly from the paper. There is this nice sentence: "Main precursors of our empirical approach are the studies on
early warning systems (EWS) which have sought to identify
macroeconomic indicators that help predict currency crises
(Frankel and Rose, 1996; Eichengreen et al., 1996; Kaminsky
et al., 1998; Kaminsky and Reinhart, 1999)". So perhaps some of these can be included and then, perhaps adding the main contributions of this paper to the literature.
Second I think we can mention that this paper adds nicely to topics discussed in class such as the decomposition of portfolio structure (L1) and implicitly the default risk model (L2)</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fe1c450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fe1c450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fe1c450f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fe1c450f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fd2a39a4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fd2a39a4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0432c2e8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0432c2e8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fd2a39a4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fd2a39a4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0432c2e8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0432c2e8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fd2a39a4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fd2a39a4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030dda6d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030dda6d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0432c2e8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0432c2e8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showMasterSp="0" type="title">
  <p:cSld name="TITLE">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2"/>
          <p:cNvSpPr txBox="1"/>
          <p:nvPr>
            <p:ph type="ctrTitle"/>
          </p:nvPr>
        </p:nvSpPr>
        <p:spPr>
          <a:xfrm>
            <a:off x="491526" y="396000"/>
            <a:ext cx="5940900" cy="1476000"/>
          </a:xfrm>
          <a:prstGeom prst="rect">
            <a:avLst/>
          </a:prstGeom>
          <a:noFill/>
          <a:ln>
            <a:noFill/>
          </a:ln>
        </p:spPr>
        <p:txBody>
          <a:bodyPr anchorCtr="0" anchor="t" bIns="0" lIns="0" spcFirstLastPara="1" rIns="0" wrap="square" tIns="0">
            <a:noAutofit/>
          </a:bodyPr>
          <a:lstStyle>
            <a:lvl1pPr lvl="0" algn="l">
              <a:lnSpc>
                <a:spcPct val="87500"/>
              </a:lnSpc>
              <a:spcBef>
                <a:spcPts val="0"/>
              </a:spcBef>
              <a:spcAft>
                <a:spcPts val="0"/>
              </a:spcAft>
              <a:buClr>
                <a:schemeClr val="lt1"/>
              </a:buClr>
              <a:buSzPts val="6400"/>
              <a:buFont typeface="Arial"/>
              <a:buNone/>
              <a:defRPr sz="6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491526" y="1872000"/>
            <a:ext cx="5940900" cy="810000"/>
          </a:xfrm>
          <a:prstGeom prst="rect">
            <a:avLst/>
          </a:prstGeom>
          <a:noFill/>
          <a:ln>
            <a:noFill/>
          </a:ln>
        </p:spPr>
        <p:txBody>
          <a:bodyPr anchorCtr="0" anchor="t" bIns="0" lIns="0" spcFirstLastPara="1" rIns="0" wrap="square" tIns="0">
            <a:noAutofit/>
          </a:bodyPr>
          <a:lstStyle>
            <a:lvl1pPr lvl="0" algn="l">
              <a:lnSpc>
                <a:spcPct val="127777"/>
              </a:lnSpc>
              <a:spcBef>
                <a:spcPts val="0"/>
              </a:spcBef>
              <a:spcAft>
                <a:spcPts val="0"/>
              </a:spcAft>
              <a:buClr>
                <a:srgbClr val="FFFFFF"/>
              </a:buClr>
              <a:buSzPts val="2340"/>
              <a:buNone/>
              <a:defRPr b="0" i="0">
                <a:solidFill>
                  <a:srgbClr val="FFFFFF"/>
                </a:solidFill>
                <a:latin typeface="Arial"/>
                <a:ea typeface="Arial"/>
                <a:cs typeface="Arial"/>
                <a:sym typeface="Arial"/>
              </a:defRPr>
            </a:lvl1pPr>
            <a:lvl2pPr lvl="1" algn="ctr">
              <a:lnSpc>
                <a:spcPct val="127777"/>
              </a:lnSpc>
              <a:spcBef>
                <a:spcPts val="0"/>
              </a:spcBef>
              <a:spcAft>
                <a:spcPts val="0"/>
              </a:spcAft>
              <a:buClr>
                <a:srgbClr val="888A8B"/>
              </a:buClr>
              <a:buSzPts val="2340"/>
              <a:buNone/>
              <a:defRPr>
                <a:solidFill>
                  <a:srgbClr val="888A8B"/>
                </a:solidFill>
              </a:defRPr>
            </a:lvl2pPr>
            <a:lvl3pPr lvl="2" algn="ctr">
              <a:lnSpc>
                <a:spcPct val="127777"/>
              </a:lnSpc>
              <a:spcBef>
                <a:spcPts val="0"/>
              </a:spcBef>
              <a:spcAft>
                <a:spcPts val="0"/>
              </a:spcAft>
              <a:buClr>
                <a:srgbClr val="888A8B"/>
              </a:buClr>
              <a:buSzPts val="2340"/>
              <a:buNone/>
              <a:defRPr>
                <a:solidFill>
                  <a:srgbClr val="888A8B"/>
                </a:solidFill>
              </a:defRPr>
            </a:lvl3pPr>
            <a:lvl4pPr lvl="3" algn="ctr">
              <a:lnSpc>
                <a:spcPct val="127777"/>
              </a:lnSpc>
              <a:spcBef>
                <a:spcPts val="0"/>
              </a:spcBef>
              <a:spcAft>
                <a:spcPts val="0"/>
              </a:spcAft>
              <a:buClr>
                <a:srgbClr val="888A8B"/>
              </a:buClr>
              <a:buSzPts val="2340"/>
              <a:buNone/>
              <a:defRPr>
                <a:solidFill>
                  <a:srgbClr val="888A8B"/>
                </a:solidFill>
              </a:defRPr>
            </a:lvl4pPr>
            <a:lvl5pPr lvl="4" algn="ctr">
              <a:lnSpc>
                <a:spcPct val="127777"/>
              </a:lnSpc>
              <a:spcBef>
                <a:spcPts val="0"/>
              </a:spcBef>
              <a:spcAft>
                <a:spcPts val="0"/>
              </a:spcAft>
              <a:buClr>
                <a:srgbClr val="888A8B"/>
              </a:buClr>
              <a:buSzPts val="2340"/>
              <a:buNone/>
              <a:defRPr>
                <a:solidFill>
                  <a:srgbClr val="888A8B"/>
                </a:solidFill>
              </a:defRPr>
            </a:lvl5pPr>
            <a:lvl6pPr lvl="5" algn="ctr">
              <a:spcBef>
                <a:spcPts val="400"/>
              </a:spcBef>
              <a:spcAft>
                <a:spcPts val="0"/>
              </a:spcAft>
              <a:buClr>
                <a:srgbClr val="888A8B"/>
              </a:buClr>
              <a:buSzPts val="2000"/>
              <a:buNone/>
              <a:defRPr>
                <a:solidFill>
                  <a:srgbClr val="888A8B"/>
                </a:solidFill>
              </a:defRPr>
            </a:lvl6pPr>
            <a:lvl7pPr lvl="6" algn="ctr">
              <a:spcBef>
                <a:spcPts val="400"/>
              </a:spcBef>
              <a:spcAft>
                <a:spcPts val="0"/>
              </a:spcAft>
              <a:buClr>
                <a:srgbClr val="888A8B"/>
              </a:buClr>
              <a:buSzPts val="2000"/>
              <a:buNone/>
              <a:defRPr>
                <a:solidFill>
                  <a:srgbClr val="888A8B"/>
                </a:solidFill>
              </a:defRPr>
            </a:lvl7pPr>
            <a:lvl8pPr lvl="7" algn="ctr">
              <a:spcBef>
                <a:spcPts val="400"/>
              </a:spcBef>
              <a:spcAft>
                <a:spcPts val="0"/>
              </a:spcAft>
              <a:buClr>
                <a:srgbClr val="888A8B"/>
              </a:buClr>
              <a:buSzPts val="2000"/>
              <a:buNone/>
              <a:defRPr>
                <a:solidFill>
                  <a:srgbClr val="888A8B"/>
                </a:solidFill>
              </a:defRPr>
            </a:lvl8pPr>
            <a:lvl9pPr lvl="8" algn="ctr">
              <a:spcBef>
                <a:spcPts val="400"/>
              </a:spcBef>
              <a:spcAft>
                <a:spcPts val="0"/>
              </a:spcAft>
              <a:buClr>
                <a:srgbClr val="888A8B"/>
              </a:buClr>
              <a:buSzPts val="2000"/>
              <a:buNone/>
              <a:defRPr>
                <a:solidFill>
                  <a:srgbClr val="888A8B"/>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Afbeelding" showMasterSp="0">
  <p:cSld name="Titeldia Afbeelding">
    <p:bg>
      <p:bgPr>
        <a:solidFill>
          <a:schemeClr val="lt1"/>
        </a:solidFill>
      </p:bgPr>
    </p:bg>
    <p:spTree>
      <p:nvGrpSpPr>
        <p:cNvPr id="15" name="Shape 15"/>
        <p:cNvGrpSpPr/>
        <p:nvPr/>
      </p:nvGrpSpPr>
      <p:grpSpPr>
        <a:xfrm>
          <a:off x="0" y="0"/>
          <a:ext cx="0" cy="0"/>
          <a:chOff x="0" y="0"/>
          <a:chExt cx="0" cy="0"/>
        </a:xfrm>
      </p:grpSpPr>
      <p:sp>
        <p:nvSpPr>
          <p:cNvPr id="16" name="Google Shape;16;p3"/>
          <p:cNvSpPr txBox="1"/>
          <p:nvPr>
            <p:ph idx="1" type="body"/>
          </p:nvPr>
        </p:nvSpPr>
        <p:spPr>
          <a:xfrm>
            <a:off x="0" y="0"/>
            <a:ext cx="8640000" cy="4932000"/>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lvl1pPr indent="-228600" lvl="0" marL="457200" algn="l">
              <a:lnSpc>
                <a:spcPct val="127777"/>
              </a:lnSpc>
              <a:spcBef>
                <a:spcPts val="0"/>
              </a:spcBef>
              <a:spcAft>
                <a:spcPts val="0"/>
              </a:spcAft>
              <a:buClr>
                <a:schemeClr val="dk1"/>
              </a:buClr>
              <a:buSzPts val="2340"/>
              <a:buNone/>
              <a:defRPr b="0" i="0" sz="1800">
                <a:latin typeface="Arial"/>
                <a:ea typeface="Arial"/>
                <a:cs typeface="Arial"/>
                <a:sym typeface="Arial"/>
              </a:defRPr>
            </a:lvl1pPr>
            <a:lvl2pPr indent="-228600" lvl="1" marL="914400" algn="l">
              <a:lnSpc>
                <a:spcPct val="115000"/>
              </a:lnSpc>
              <a:spcBef>
                <a:spcPts val="0"/>
              </a:spcBef>
              <a:spcAft>
                <a:spcPts val="0"/>
              </a:spcAft>
              <a:buClr>
                <a:schemeClr val="dk1"/>
              </a:buClr>
              <a:buSzPts val="2600"/>
              <a:buNone/>
              <a:defRPr b="1" sz="2000"/>
            </a:lvl2pPr>
            <a:lvl3pPr indent="-228600" lvl="2" marL="1371600" algn="l">
              <a:lnSpc>
                <a:spcPct val="127777"/>
              </a:lnSpc>
              <a:spcBef>
                <a:spcPts val="0"/>
              </a:spcBef>
              <a:spcAft>
                <a:spcPts val="0"/>
              </a:spcAft>
              <a:buClr>
                <a:schemeClr val="dk1"/>
              </a:buClr>
              <a:buSzPts val="2340"/>
              <a:buNone/>
              <a:defRPr b="1" sz="1800"/>
            </a:lvl3pPr>
            <a:lvl4pPr indent="-228600" lvl="3" marL="1828800" algn="l">
              <a:lnSpc>
                <a:spcPct val="143750"/>
              </a:lnSpc>
              <a:spcBef>
                <a:spcPts val="0"/>
              </a:spcBef>
              <a:spcAft>
                <a:spcPts val="0"/>
              </a:spcAft>
              <a:buClr>
                <a:schemeClr val="dk1"/>
              </a:buClr>
              <a:buSzPts val="2080"/>
              <a:buNone/>
              <a:defRPr b="1" sz="1600"/>
            </a:lvl4pPr>
            <a:lvl5pPr indent="-228600" lvl="4" marL="2286000" algn="l">
              <a:lnSpc>
                <a:spcPct val="143750"/>
              </a:lnSpc>
              <a:spcBef>
                <a:spcPts val="0"/>
              </a:spcBef>
              <a:spcAft>
                <a:spcPts val="0"/>
              </a:spcAft>
              <a:buClr>
                <a:schemeClr val="dk1"/>
              </a:buClr>
              <a:buSzPts val="208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7" name="Google Shape;17;p3"/>
          <p:cNvSpPr txBox="1"/>
          <p:nvPr>
            <p:ph type="ctrTitle"/>
          </p:nvPr>
        </p:nvSpPr>
        <p:spPr>
          <a:xfrm>
            <a:off x="491526" y="396000"/>
            <a:ext cx="4874100" cy="1476000"/>
          </a:xfrm>
          <a:prstGeom prst="rect">
            <a:avLst/>
          </a:prstGeom>
          <a:noFill/>
          <a:ln>
            <a:noFill/>
          </a:ln>
        </p:spPr>
        <p:txBody>
          <a:bodyPr anchorCtr="0" anchor="t" bIns="0" lIns="0" spcFirstLastPara="1" rIns="0" wrap="square" tIns="0">
            <a:noAutofit/>
          </a:bodyPr>
          <a:lstStyle>
            <a:lvl1pPr lvl="0" algn="l">
              <a:lnSpc>
                <a:spcPct val="87500"/>
              </a:lnSpc>
              <a:spcBef>
                <a:spcPts val="0"/>
              </a:spcBef>
              <a:spcAft>
                <a:spcPts val="0"/>
              </a:spcAft>
              <a:buClr>
                <a:schemeClr val="lt1"/>
              </a:buClr>
              <a:buSzPts val="6400"/>
              <a:buFont typeface="Arial"/>
              <a:buNone/>
              <a:defRPr sz="6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2" type="subTitle"/>
          </p:nvPr>
        </p:nvSpPr>
        <p:spPr>
          <a:xfrm>
            <a:off x="491526" y="1872000"/>
            <a:ext cx="4874100" cy="1080000"/>
          </a:xfrm>
          <a:prstGeom prst="rect">
            <a:avLst/>
          </a:prstGeom>
          <a:noFill/>
          <a:ln>
            <a:noFill/>
          </a:ln>
        </p:spPr>
        <p:txBody>
          <a:bodyPr anchorCtr="0" anchor="t" bIns="0" lIns="0" spcFirstLastPara="1" rIns="0" wrap="square" tIns="0">
            <a:noAutofit/>
          </a:bodyPr>
          <a:lstStyle>
            <a:lvl1pPr lvl="0" algn="l">
              <a:lnSpc>
                <a:spcPct val="127777"/>
              </a:lnSpc>
              <a:spcBef>
                <a:spcPts val="0"/>
              </a:spcBef>
              <a:spcAft>
                <a:spcPts val="0"/>
              </a:spcAft>
              <a:buClr>
                <a:srgbClr val="FFFFFF"/>
              </a:buClr>
              <a:buSzPts val="2340"/>
              <a:buNone/>
              <a:defRPr b="0" i="0">
                <a:solidFill>
                  <a:srgbClr val="FFFFFF"/>
                </a:solidFill>
                <a:latin typeface="Arial"/>
                <a:ea typeface="Arial"/>
                <a:cs typeface="Arial"/>
                <a:sym typeface="Arial"/>
              </a:defRPr>
            </a:lvl1pPr>
            <a:lvl2pPr lvl="1" algn="ctr">
              <a:lnSpc>
                <a:spcPct val="127777"/>
              </a:lnSpc>
              <a:spcBef>
                <a:spcPts val="0"/>
              </a:spcBef>
              <a:spcAft>
                <a:spcPts val="0"/>
              </a:spcAft>
              <a:buClr>
                <a:srgbClr val="888A8B"/>
              </a:buClr>
              <a:buSzPts val="2340"/>
              <a:buNone/>
              <a:defRPr>
                <a:solidFill>
                  <a:srgbClr val="888A8B"/>
                </a:solidFill>
              </a:defRPr>
            </a:lvl2pPr>
            <a:lvl3pPr lvl="2" algn="ctr">
              <a:lnSpc>
                <a:spcPct val="127777"/>
              </a:lnSpc>
              <a:spcBef>
                <a:spcPts val="0"/>
              </a:spcBef>
              <a:spcAft>
                <a:spcPts val="0"/>
              </a:spcAft>
              <a:buClr>
                <a:srgbClr val="888A8B"/>
              </a:buClr>
              <a:buSzPts val="2340"/>
              <a:buNone/>
              <a:defRPr>
                <a:solidFill>
                  <a:srgbClr val="888A8B"/>
                </a:solidFill>
              </a:defRPr>
            </a:lvl3pPr>
            <a:lvl4pPr lvl="3" algn="ctr">
              <a:lnSpc>
                <a:spcPct val="127777"/>
              </a:lnSpc>
              <a:spcBef>
                <a:spcPts val="0"/>
              </a:spcBef>
              <a:spcAft>
                <a:spcPts val="0"/>
              </a:spcAft>
              <a:buClr>
                <a:srgbClr val="888A8B"/>
              </a:buClr>
              <a:buSzPts val="2340"/>
              <a:buNone/>
              <a:defRPr>
                <a:solidFill>
                  <a:srgbClr val="888A8B"/>
                </a:solidFill>
              </a:defRPr>
            </a:lvl4pPr>
            <a:lvl5pPr lvl="4" algn="ctr">
              <a:lnSpc>
                <a:spcPct val="127777"/>
              </a:lnSpc>
              <a:spcBef>
                <a:spcPts val="0"/>
              </a:spcBef>
              <a:spcAft>
                <a:spcPts val="0"/>
              </a:spcAft>
              <a:buClr>
                <a:srgbClr val="888A8B"/>
              </a:buClr>
              <a:buSzPts val="2340"/>
              <a:buNone/>
              <a:defRPr>
                <a:solidFill>
                  <a:srgbClr val="888A8B"/>
                </a:solidFill>
              </a:defRPr>
            </a:lvl5pPr>
            <a:lvl6pPr lvl="5" algn="ctr">
              <a:spcBef>
                <a:spcPts val="400"/>
              </a:spcBef>
              <a:spcAft>
                <a:spcPts val="0"/>
              </a:spcAft>
              <a:buClr>
                <a:srgbClr val="888A8B"/>
              </a:buClr>
              <a:buSzPts val="2000"/>
              <a:buNone/>
              <a:defRPr>
                <a:solidFill>
                  <a:srgbClr val="888A8B"/>
                </a:solidFill>
              </a:defRPr>
            </a:lvl6pPr>
            <a:lvl7pPr lvl="6" algn="ctr">
              <a:spcBef>
                <a:spcPts val="400"/>
              </a:spcBef>
              <a:spcAft>
                <a:spcPts val="0"/>
              </a:spcAft>
              <a:buClr>
                <a:srgbClr val="888A8B"/>
              </a:buClr>
              <a:buSzPts val="2000"/>
              <a:buNone/>
              <a:defRPr>
                <a:solidFill>
                  <a:srgbClr val="888A8B"/>
                </a:solidFill>
              </a:defRPr>
            </a:lvl7pPr>
            <a:lvl8pPr lvl="7" algn="ctr">
              <a:spcBef>
                <a:spcPts val="400"/>
              </a:spcBef>
              <a:spcAft>
                <a:spcPts val="0"/>
              </a:spcAft>
              <a:buClr>
                <a:srgbClr val="888A8B"/>
              </a:buClr>
              <a:buSzPts val="2000"/>
              <a:buNone/>
              <a:defRPr>
                <a:solidFill>
                  <a:srgbClr val="888A8B"/>
                </a:solidFill>
              </a:defRPr>
            </a:lvl8pPr>
            <a:lvl9pPr lvl="8" algn="ctr">
              <a:spcBef>
                <a:spcPts val="400"/>
              </a:spcBef>
              <a:spcAft>
                <a:spcPts val="0"/>
              </a:spcAft>
              <a:buClr>
                <a:srgbClr val="888A8B"/>
              </a:buClr>
              <a:buSzPts val="2000"/>
              <a:buNone/>
              <a:defRPr>
                <a:solidFill>
                  <a:srgbClr val="888A8B"/>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491525" y="396000"/>
            <a:ext cx="8172000" cy="576000"/>
          </a:xfrm>
          <a:prstGeom prst="rect">
            <a:avLst/>
          </a:prstGeom>
          <a:noFill/>
          <a:ln>
            <a:noFill/>
          </a:ln>
        </p:spPr>
        <p:txBody>
          <a:bodyPr anchorCtr="0" anchor="t" bIns="0" lIns="0" spcFirstLastPara="1" rIns="0" wrap="square" tIns="0">
            <a:noAutofit/>
          </a:bodyPr>
          <a:lstStyle>
            <a:lvl1pPr lvl="0" algn="l">
              <a:lnSpc>
                <a:spcPct val="177777"/>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491524" y="971551"/>
            <a:ext cx="8172000" cy="3348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a:lvl1pPr>
            <a:lvl2pPr indent="-377190" lvl="1" marL="914400" algn="l">
              <a:lnSpc>
                <a:spcPct val="127777"/>
              </a:lnSpc>
              <a:spcBef>
                <a:spcPts val="0"/>
              </a:spcBef>
              <a:spcAft>
                <a:spcPts val="0"/>
              </a:spcAft>
              <a:buClr>
                <a:schemeClr val="dk1"/>
              </a:buClr>
              <a:buSzPts val="2340"/>
              <a:buChar char="•"/>
              <a:defRPr/>
            </a:lvl2pPr>
            <a:lvl3pPr indent="-377189" lvl="2" marL="1371600" algn="l">
              <a:lnSpc>
                <a:spcPct val="127777"/>
              </a:lnSpc>
              <a:spcBef>
                <a:spcPts val="0"/>
              </a:spcBef>
              <a:spcAft>
                <a:spcPts val="0"/>
              </a:spcAft>
              <a:buClr>
                <a:schemeClr val="dk1"/>
              </a:buClr>
              <a:buSzPts val="2340"/>
              <a:buChar char="•"/>
              <a:defRPr/>
            </a:lvl3pPr>
            <a:lvl4pPr indent="-377189" lvl="3" marL="1828800" algn="l">
              <a:lnSpc>
                <a:spcPct val="127777"/>
              </a:lnSpc>
              <a:spcBef>
                <a:spcPts val="0"/>
              </a:spcBef>
              <a:spcAft>
                <a:spcPts val="0"/>
              </a:spcAft>
              <a:buClr>
                <a:schemeClr val="dk1"/>
              </a:buClr>
              <a:buSzPts val="2340"/>
              <a:buChar char="•"/>
              <a:defRPr/>
            </a:lvl4pPr>
            <a:lvl5pPr indent="-377189" lvl="4" marL="2286000" algn="l">
              <a:lnSpc>
                <a:spcPct val="127777"/>
              </a:lnSpc>
              <a:spcBef>
                <a:spcPts val="0"/>
              </a:spcBef>
              <a:spcAft>
                <a:spcPts val="0"/>
              </a:spcAft>
              <a:buClr>
                <a:schemeClr val="dk1"/>
              </a:buClr>
              <a:buSzPts val="234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4"/>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2">
  <p:cSld name="Titel en object 2">
    <p:spTree>
      <p:nvGrpSpPr>
        <p:cNvPr id="25" name="Shape 25"/>
        <p:cNvGrpSpPr/>
        <p:nvPr/>
      </p:nvGrpSpPr>
      <p:grpSpPr>
        <a:xfrm>
          <a:off x="0" y="0"/>
          <a:ext cx="0" cy="0"/>
          <a:chOff x="0" y="0"/>
          <a:chExt cx="0" cy="0"/>
        </a:xfrm>
      </p:grpSpPr>
      <p:sp>
        <p:nvSpPr>
          <p:cNvPr id="26" name="Google Shape;26;p5"/>
          <p:cNvSpPr txBox="1"/>
          <p:nvPr>
            <p:ph type="title"/>
          </p:nvPr>
        </p:nvSpPr>
        <p:spPr>
          <a:xfrm>
            <a:off x="491525" y="396000"/>
            <a:ext cx="8172000" cy="576000"/>
          </a:xfrm>
          <a:prstGeom prst="rect">
            <a:avLst/>
          </a:prstGeom>
          <a:noFill/>
          <a:ln>
            <a:noFill/>
          </a:ln>
        </p:spPr>
        <p:txBody>
          <a:bodyPr anchorCtr="0" anchor="t" bIns="0" lIns="0" spcFirstLastPara="1" rIns="0" wrap="square" tIns="0">
            <a:noAutofit/>
          </a:bodyPr>
          <a:lstStyle>
            <a:lvl1pPr lvl="0" algn="l">
              <a:lnSpc>
                <a:spcPct val="177777"/>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491524" y="971551"/>
            <a:ext cx="8172000" cy="3348000"/>
          </a:xfrm>
          <a:prstGeom prst="rect">
            <a:avLst/>
          </a:prstGeom>
          <a:noFill/>
          <a:ln>
            <a:noFill/>
          </a:ln>
        </p:spPr>
        <p:txBody>
          <a:bodyPr anchorCtr="0" anchor="t" bIns="0" lIns="0" spcFirstLastPara="1" rIns="0" wrap="square" tIns="0">
            <a:noAutofit/>
          </a:bodyPr>
          <a:lstStyle>
            <a:lvl1pPr indent="-228600" lvl="0" marL="457200" algn="l">
              <a:lnSpc>
                <a:spcPct val="127777"/>
              </a:lnSpc>
              <a:spcBef>
                <a:spcPts val="0"/>
              </a:spcBef>
              <a:spcAft>
                <a:spcPts val="0"/>
              </a:spcAft>
              <a:buClr>
                <a:schemeClr val="dk1"/>
              </a:buClr>
              <a:buSzPts val="2340"/>
              <a:buFont typeface="Arial"/>
              <a:buNone/>
              <a:defRPr/>
            </a:lvl1pPr>
            <a:lvl2pPr indent="-228600" lvl="1" marL="914400" algn="l">
              <a:lnSpc>
                <a:spcPct val="127777"/>
              </a:lnSpc>
              <a:spcBef>
                <a:spcPts val="0"/>
              </a:spcBef>
              <a:spcAft>
                <a:spcPts val="0"/>
              </a:spcAft>
              <a:buClr>
                <a:schemeClr val="dk1"/>
              </a:buClr>
              <a:buSzPts val="2340"/>
              <a:buFont typeface="Arial"/>
              <a:buNone/>
              <a:defRPr/>
            </a:lvl2pPr>
            <a:lvl3pPr indent="-228600" lvl="2" marL="1371600" algn="l">
              <a:lnSpc>
                <a:spcPct val="127777"/>
              </a:lnSpc>
              <a:spcBef>
                <a:spcPts val="0"/>
              </a:spcBef>
              <a:spcAft>
                <a:spcPts val="0"/>
              </a:spcAft>
              <a:buClr>
                <a:schemeClr val="dk1"/>
              </a:buClr>
              <a:buSzPts val="2340"/>
              <a:buFont typeface="Arial"/>
              <a:buNone/>
              <a:defRPr/>
            </a:lvl3pPr>
            <a:lvl4pPr indent="-228600" lvl="3" marL="1828800" algn="l">
              <a:lnSpc>
                <a:spcPct val="127777"/>
              </a:lnSpc>
              <a:spcBef>
                <a:spcPts val="0"/>
              </a:spcBef>
              <a:spcAft>
                <a:spcPts val="0"/>
              </a:spcAft>
              <a:buClr>
                <a:schemeClr val="dk1"/>
              </a:buClr>
              <a:buSzPts val="2340"/>
              <a:buFont typeface="Arial"/>
              <a:buNone/>
              <a:defRPr/>
            </a:lvl4pPr>
            <a:lvl5pPr indent="-228600" lvl="4" marL="2286000" algn="l">
              <a:lnSpc>
                <a:spcPct val="127777"/>
              </a:lnSpc>
              <a:spcBef>
                <a:spcPts val="0"/>
              </a:spcBef>
              <a:spcAft>
                <a:spcPts val="0"/>
              </a:spcAft>
              <a:buClr>
                <a:schemeClr val="dk1"/>
              </a:buClr>
              <a:buSzPts val="2340"/>
              <a:buFont typeface="Arial"/>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ee objecten" type="twoObj">
  <p:cSld name="TWO_OBJECTS">
    <p:bg>
      <p:bgPr>
        <a:solidFill>
          <a:schemeClr val="lt1"/>
        </a:solidFill>
      </p:bgPr>
    </p:bg>
    <p:spTree>
      <p:nvGrpSpPr>
        <p:cNvPr id="31" name="Shape 31"/>
        <p:cNvGrpSpPr/>
        <p:nvPr/>
      </p:nvGrpSpPr>
      <p:grpSpPr>
        <a:xfrm>
          <a:off x="0" y="0"/>
          <a:ext cx="0" cy="0"/>
          <a:chOff x="0" y="0"/>
          <a:chExt cx="0" cy="0"/>
        </a:xfrm>
      </p:grpSpPr>
      <p:sp>
        <p:nvSpPr>
          <p:cNvPr id="32" name="Google Shape;32;p6"/>
          <p:cNvSpPr txBox="1"/>
          <p:nvPr>
            <p:ph type="title"/>
          </p:nvPr>
        </p:nvSpPr>
        <p:spPr>
          <a:xfrm>
            <a:off x="491525" y="396000"/>
            <a:ext cx="8172000" cy="576000"/>
          </a:xfrm>
          <a:prstGeom prst="rect">
            <a:avLst/>
          </a:prstGeom>
          <a:noFill/>
          <a:ln>
            <a:noFill/>
          </a:ln>
        </p:spPr>
        <p:txBody>
          <a:bodyPr anchorCtr="0" anchor="t" bIns="0" lIns="0" spcFirstLastPara="1" rIns="0" wrap="square" tIns="0">
            <a:noAutofit/>
          </a:bodyPr>
          <a:lstStyle>
            <a:lvl1pPr lvl="0" algn="l">
              <a:lnSpc>
                <a:spcPct val="177777"/>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body"/>
          </p:nvPr>
        </p:nvSpPr>
        <p:spPr>
          <a:xfrm>
            <a:off x="493200" y="972000"/>
            <a:ext cx="4014000" cy="3348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sz="1800"/>
            </a:lvl1pPr>
            <a:lvl2pPr indent="-377190" lvl="1" marL="914400" algn="l">
              <a:lnSpc>
                <a:spcPct val="127777"/>
              </a:lnSpc>
              <a:spcBef>
                <a:spcPts val="0"/>
              </a:spcBef>
              <a:spcAft>
                <a:spcPts val="0"/>
              </a:spcAft>
              <a:buClr>
                <a:schemeClr val="dk1"/>
              </a:buClr>
              <a:buSzPts val="2340"/>
              <a:buChar char="•"/>
              <a:defRPr sz="1800"/>
            </a:lvl2pPr>
            <a:lvl3pPr indent="-377189" lvl="2" marL="1371600" algn="l">
              <a:lnSpc>
                <a:spcPct val="127777"/>
              </a:lnSpc>
              <a:spcBef>
                <a:spcPts val="0"/>
              </a:spcBef>
              <a:spcAft>
                <a:spcPts val="0"/>
              </a:spcAft>
              <a:buClr>
                <a:schemeClr val="dk1"/>
              </a:buClr>
              <a:buSzPts val="2340"/>
              <a:buChar char="•"/>
              <a:defRPr sz="1800"/>
            </a:lvl3pPr>
            <a:lvl4pPr indent="-377189" lvl="3" marL="1828800" algn="l">
              <a:lnSpc>
                <a:spcPct val="127777"/>
              </a:lnSpc>
              <a:spcBef>
                <a:spcPts val="0"/>
              </a:spcBef>
              <a:spcAft>
                <a:spcPts val="0"/>
              </a:spcAft>
              <a:buClr>
                <a:schemeClr val="dk1"/>
              </a:buClr>
              <a:buSzPts val="2340"/>
              <a:buChar char="•"/>
              <a:defRPr sz="1800"/>
            </a:lvl4pPr>
            <a:lvl5pPr indent="-377189" lvl="4" marL="2286000" algn="l">
              <a:lnSpc>
                <a:spcPct val="127777"/>
              </a:lnSpc>
              <a:spcBef>
                <a:spcPts val="0"/>
              </a:spcBef>
              <a:spcAft>
                <a:spcPts val="0"/>
              </a:spcAft>
              <a:buClr>
                <a:schemeClr val="dk1"/>
              </a:buClr>
              <a:buSzPts val="234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6"/>
          <p:cNvSpPr txBox="1"/>
          <p:nvPr>
            <p:ph idx="2" type="body"/>
          </p:nvPr>
        </p:nvSpPr>
        <p:spPr>
          <a:xfrm>
            <a:off x="4648201" y="971999"/>
            <a:ext cx="4015200" cy="3348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sz="1800"/>
            </a:lvl1pPr>
            <a:lvl2pPr indent="-377190" lvl="1" marL="914400" algn="l">
              <a:lnSpc>
                <a:spcPct val="127777"/>
              </a:lnSpc>
              <a:spcBef>
                <a:spcPts val="0"/>
              </a:spcBef>
              <a:spcAft>
                <a:spcPts val="0"/>
              </a:spcAft>
              <a:buClr>
                <a:schemeClr val="dk1"/>
              </a:buClr>
              <a:buSzPts val="2340"/>
              <a:buChar char="•"/>
              <a:defRPr sz="1800"/>
            </a:lvl2pPr>
            <a:lvl3pPr indent="-377189" lvl="2" marL="1371600" algn="l">
              <a:lnSpc>
                <a:spcPct val="127777"/>
              </a:lnSpc>
              <a:spcBef>
                <a:spcPts val="0"/>
              </a:spcBef>
              <a:spcAft>
                <a:spcPts val="0"/>
              </a:spcAft>
              <a:buClr>
                <a:schemeClr val="dk1"/>
              </a:buClr>
              <a:buSzPts val="2340"/>
              <a:buChar char="•"/>
              <a:defRPr sz="1800"/>
            </a:lvl3pPr>
            <a:lvl4pPr indent="-377189" lvl="3" marL="1828800" algn="l">
              <a:lnSpc>
                <a:spcPct val="127777"/>
              </a:lnSpc>
              <a:spcBef>
                <a:spcPts val="0"/>
              </a:spcBef>
              <a:spcAft>
                <a:spcPts val="0"/>
              </a:spcAft>
              <a:buClr>
                <a:schemeClr val="dk1"/>
              </a:buClr>
              <a:buSzPts val="2340"/>
              <a:buChar char="•"/>
              <a:defRPr sz="1800"/>
            </a:lvl4pPr>
            <a:lvl5pPr indent="-377189" lvl="4" marL="2286000" algn="l">
              <a:lnSpc>
                <a:spcPct val="127777"/>
              </a:lnSpc>
              <a:spcBef>
                <a:spcPts val="0"/>
              </a:spcBef>
              <a:spcAft>
                <a:spcPts val="0"/>
              </a:spcAft>
              <a:buClr>
                <a:schemeClr val="dk1"/>
              </a:buClr>
              <a:buSzPts val="234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6"/>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elijking" type="twoTxTwoObj">
  <p:cSld name="TWO_OBJECTS_WITH_TEXT">
    <p:bg>
      <p:bgPr>
        <a:solidFill>
          <a:schemeClr val="lt1"/>
        </a:solidFill>
      </p:bgPr>
    </p:bg>
    <p:spTree>
      <p:nvGrpSpPr>
        <p:cNvPr id="38" name="Shape 38"/>
        <p:cNvGrpSpPr/>
        <p:nvPr/>
      </p:nvGrpSpPr>
      <p:grpSpPr>
        <a:xfrm>
          <a:off x="0" y="0"/>
          <a:ext cx="0" cy="0"/>
          <a:chOff x="0" y="0"/>
          <a:chExt cx="0" cy="0"/>
        </a:xfrm>
      </p:grpSpPr>
      <p:sp>
        <p:nvSpPr>
          <p:cNvPr id="39" name="Google Shape;39;p7"/>
          <p:cNvSpPr txBox="1"/>
          <p:nvPr>
            <p:ph type="title"/>
          </p:nvPr>
        </p:nvSpPr>
        <p:spPr>
          <a:xfrm>
            <a:off x="491525" y="396000"/>
            <a:ext cx="8172000" cy="576000"/>
          </a:xfrm>
          <a:prstGeom prst="rect">
            <a:avLst/>
          </a:prstGeom>
          <a:noFill/>
          <a:ln>
            <a:noFill/>
          </a:ln>
        </p:spPr>
        <p:txBody>
          <a:bodyPr anchorCtr="0" anchor="t" bIns="0" lIns="0" spcFirstLastPara="1" rIns="0" wrap="square" tIns="0">
            <a:noAutofit/>
          </a:bodyPr>
          <a:lstStyle>
            <a:lvl1pPr lvl="0" algn="l">
              <a:lnSpc>
                <a:spcPct val="114285"/>
              </a:lnSpc>
              <a:spcBef>
                <a:spcPts val="0"/>
              </a:spcBef>
              <a:spcAft>
                <a:spcPts val="0"/>
              </a:spcAft>
              <a:buClr>
                <a:schemeClr val="dk2"/>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493200" y="972000"/>
            <a:ext cx="3997800" cy="324000"/>
          </a:xfrm>
          <a:prstGeom prst="rect">
            <a:avLst/>
          </a:prstGeom>
          <a:noFill/>
          <a:ln>
            <a:noFill/>
          </a:ln>
        </p:spPr>
        <p:txBody>
          <a:bodyPr anchorCtr="0" anchor="t" bIns="0" lIns="0" spcFirstLastPara="1" rIns="0" wrap="square" tIns="0">
            <a:noAutofit/>
          </a:bodyPr>
          <a:lstStyle>
            <a:lvl1pPr indent="-228600" lvl="0" marL="457200" algn="l">
              <a:lnSpc>
                <a:spcPct val="127777"/>
              </a:lnSpc>
              <a:spcBef>
                <a:spcPts val="0"/>
              </a:spcBef>
              <a:spcAft>
                <a:spcPts val="0"/>
              </a:spcAft>
              <a:buClr>
                <a:schemeClr val="dk1"/>
              </a:buClr>
              <a:buSzPts val="2340"/>
              <a:buNone/>
              <a:defRPr b="0" i="0" sz="1800">
                <a:latin typeface="Arial"/>
                <a:ea typeface="Arial"/>
                <a:cs typeface="Arial"/>
                <a:sym typeface="Arial"/>
              </a:defRPr>
            </a:lvl1pPr>
            <a:lvl2pPr indent="-228600" lvl="1" marL="914400" algn="l">
              <a:lnSpc>
                <a:spcPct val="115000"/>
              </a:lnSpc>
              <a:spcBef>
                <a:spcPts val="0"/>
              </a:spcBef>
              <a:spcAft>
                <a:spcPts val="0"/>
              </a:spcAft>
              <a:buClr>
                <a:schemeClr val="dk1"/>
              </a:buClr>
              <a:buSzPts val="2600"/>
              <a:buNone/>
              <a:defRPr b="1" sz="2000"/>
            </a:lvl2pPr>
            <a:lvl3pPr indent="-228600" lvl="2" marL="1371600" algn="l">
              <a:lnSpc>
                <a:spcPct val="127777"/>
              </a:lnSpc>
              <a:spcBef>
                <a:spcPts val="0"/>
              </a:spcBef>
              <a:spcAft>
                <a:spcPts val="0"/>
              </a:spcAft>
              <a:buClr>
                <a:schemeClr val="dk1"/>
              </a:buClr>
              <a:buSzPts val="2340"/>
              <a:buNone/>
              <a:defRPr b="1" sz="1800"/>
            </a:lvl3pPr>
            <a:lvl4pPr indent="-228600" lvl="3" marL="1828800" algn="l">
              <a:lnSpc>
                <a:spcPct val="143750"/>
              </a:lnSpc>
              <a:spcBef>
                <a:spcPts val="0"/>
              </a:spcBef>
              <a:spcAft>
                <a:spcPts val="0"/>
              </a:spcAft>
              <a:buClr>
                <a:schemeClr val="dk1"/>
              </a:buClr>
              <a:buSzPts val="2080"/>
              <a:buNone/>
              <a:defRPr b="1" sz="1600"/>
            </a:lvl4pPr>
            <a:lvl5pPr indent="-228600" lvl="4" marL="2286000" algn="l">
              <a:lnSpc>
                <a:spcPct val="143750"/>
              </a:lnSpc>
              <a:spcBef>
                <a:spcPts val="0"/>
              </a:spcBef>
              <a:spcAft>
                <a:spcPts val="0"/>
              </a:spcAft>
              <a:buClr>
                <a:schemeClr val="dk1"/>
              </a:buClr>
              <a:buSzPts val="208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7"/>
          <p:cNvSpPr txBox="1"/>
          <p:nvPr>
            <p:ph idx="2" type="body"/>
          </p:nvPr>
        </p:nvSpPr>
        <p:spPr>
          <a:xfrm>
            <a:off x="491524" y="1296000"/>
            <a:ext cx="3999600" cy="3024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sz="1800"/>
            </a:lvl1pPr>
            <a:lvl2pPr indent="-377190" lvl="1" marL="914400" algn="l">
              <a:lnSpc>
                <a:spcPct val="127777"/>
              </a:lnSpc>
              <a:spcBef>
                <a:spcPts val="0"/>
              </a:spcBef>
              <a:spcAft>
                <a:spcPts val="0"/>
              </a:spcAft>
              <a:buClr>
                <a:schemeClr val="dk1"/>
              </a:buClr>
              <a:buSzPts val="2340"/>
              <a:buChar char="•"/>
              <a:defRPr sz="1800"/>
            </a:lvl2pPr>
            <a:lvl3pPr indent="-377189" lvl="2" marL="1371600" algn="l">
              <a:lnSpc>
                <a:spcPct val="127777"/>
              </a:lnSpc>
              <a:spcBef>
                <a:spcPts val="0"/>
              </a:spcBef>
              <a:spcAft>
                <a:spcPts val="0"/>
              </a:spcAft>
              <a:buClr>
                <a:schemeClr val="dk1"/>
              </a:buClr>
              <a:buSzPts val="2340"/>
              <a:buChar char="•"/>
              <a:defRPr sz="1800"/>
            </a:lvl3pPr>
            <a:lvl4pPr indent="-377189" lvl="3" marL="1828800" algn="l">
              <a:lnSpc>
                <a:spcPct val="127777"/>
              </a:lnSpc>
              <a:spcBef>
                <a:spcPts val="0"/>
              </a:spcBef>
              <a:spcAft>
                <a:spcPts val="0"/>
              </a:spcAft>
              <a:buClr>
                <a:schemeClr val="dk1"/>
              </a:buClr>
              <a:buSzPts val="2340"/>
              <a:buChar char="•"/>
              <a:defRPr sz="1800"/>
            </a:lvl4pPr>
            <a:lvl5pPr indent="-377189" lvl="4" marL="2286000" algn="l">
              <a:lnSpc>
                <a:spcPct val="127777"/>
              </a:lnSpc>
              <a:spcBef>
                <a:spcPts val="0"/>
              </a:spcBef>
              <a:spcAft>
                <a:spcPts val="0"/>
              </a:spcAft>
              <a:buClr>
                <a:schemeClr val="dk1"/>
              </a:buClr>
              <a:buSzPts val="234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7"/>
          <p:cNvSpPr txBox="1"/>
          <p:nvPr>
            <p:ph idx="3" type="body"/>
          </p:nvPr>
        </p:nvSpPr>
        <p:spPr>
          <a:xfrm>
            <a:off x="4645026" y="972000"/>
            <a:ext cx="4014000" cy="324000"/>
          </a:xfrm>
          <a:prstGeom prst="rect">
            <a:avLst/>
          </a:prstGeom>
          <a:noFill/>
          <a:ln>
            <a:noFill/>
          </a:ln>
        </p:spPr>
        <p:txBody>
          <a:bodyPr anchorCtr="0" anchor="t" bIns="0" lIns="0" spcFirstLastPara="1" rIns="0" wrap="square" tIns="0">
            <a:noAutofit/>
          </a:bodyPr>
          <a:lstStyle>
            <a:lvl1pPr indent="-228600" lvl="0" marL="457200" algn="l">
              <a:lnSpc>
                <a:spcPct val="127777"/>
              </a:lnSpc>
              <a:spcBef>
                <a:spcPts val="0"/>
              </a:spcBef>
              <a:spcAft>
                <a:spcPts val="0"/>
              </a:spcAft>
              <a:buClr>
                <a:schemeClr val="dk1"/>
              </a:buClr>
              <a:buSzPts val="2340"/>
              <a:buNone/>
              <a:defRPr b="0" i="0" sz="1800">
                <a:latin typeface="Arial"/>
                <a:ea typeface="Arial"/>
                <a:cs typeface="Arial"/>
                <a:sym typeface="Arial"/>
              </a:defRPr>
            </a:lvl1pPr>
            <a:lvl2pPr indent="-228600" lvl="1" marL="914400" algn="l">
              <a:lnSpc>
                <a:spcPct val="115000"/>
              </a:lnSpc>
              <a:spcBef>
                <a:spcPts val="0"/>
              </a:spcBef>
              <a:spcAft>
                <a:spcPts val="0"/>
              </a:spcAft>
              <a:buClr>
                <a:schemeClr val="dk1"/>
              </a:buClr>
              <a:buSzPts val="2600"/>
              <a:buNone/>
              <a:defRPr b="1" sz="2000"/>
            </a:lvl2pPr>
            <a:lvl3pPr indent="-228600" lvl="2" marL="1371600" algn="l">
              <a:lnSpc>
                <a:spcPct val="127777"/>
              </a:lnSpc>
              <a:spcBef>
                <a:spcPts val="0"/>
              </a:spcBef>
              <a:spcAft>
                <a:spcPts val="0"/>
              </a:spcAft>
              <a:buClr>
                <a:schemeClr val="dk1"/>
              </a:buClr>
              <a:buSzPts val="2340"/>
              <a:buNone/>
              <a:defRPr b="1" sz="1800"/>
            </a:lvl3pPr>
            <a:lvl4pPr indent="-228600" lvl="3" marL="1828800" algn="l">
              <a:lnSpc>
                <a:spcPct val="143750"/>
              </a:lnSpc>
              <a:spcBef>
                <a:spcPts val="0"/>
              </a:spcBef>
              <a:spcAft>
                <a:spcPts val="0"/>
              </a:spcAft>
              <a:buClr>
                <a:schemeClr val="dk1"/>
              </a:buClr>
              <a:buSzPts val="2080"/>
              <a:buNone/>
              <a:defRPr b="1" sz="1600"/>
            </a:lvl4pPr>
            <a:lvl5pPr indent="-228600" lvl="4" marL="2286000" algn="l">
              <a:lnSpc>
                <a:spcPct val="143750"/>
              </a:lnSpc>
              <a:spcBef>
                <a:spcPts val="0"/>
              </a:spcBef>
              <a:spcAft>
                <a:spcPts val="0"/>
              </a:spcAft>
              <a:buClr>
                <a:schemeClr val="dk1"/>
              </a:buClr>
              <a:buSzPts val="208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4" type="body"/>
          </p:nvPr>
        </p:nvSpPr>
        <p:spPr>
          <a:xfrm>
            <a:off x="4645025" y="1296000"/>
            <a:ext cx="4014000" cy="3024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sz="1800"/>
            </a:lvl1pPr>
            <a:lvl2pPr indent="-377190" lvl="1" marL="914400" algn="l">
              <a:lnSpc>
                <a:spcPct val="127777"/>
              </a:lnSpc>
              <a:spcBef>
                <a:spcPts val="0"/>
              </a:spcBef>
              <a:spcAft>
                <a:spcPts val="0"/>
              </a:spcAft>
              <a:buClr>
                <a:schemeClr val="dk1"/>
              </a:buClr>
              <a:buSzPts val="2340"/>
              <a:buChar char="•"/>
              <a:defRPr sz="1800"/>
            </a:lvl2pPr>
            <a:lvl3pPr indent="-377189" lvl="2" marL="1371600" algn="l">
              <a:lnSpc>
                <a:spcPct val="127777"/>
              </a:lnSpc>
              <a:spcBef>
                <a:spcPts val="0"/>
              </a:spcBef>
              <a:spcAft>
                <a:spcPts val="0"/>
              </a:spcAft>
              <a:buClr>
                <a:schemeClr val="dk1"/>
              </a:buClr>
              <a:buSzPts val="2340"/>
              <a:buChar char="•"/>
              <a:defRPr sz="1800"/>
            </a:lvl3pPr>
            <a:lvl4pPr indent="-377189" lvl="3" marL="1828800" algn="l">
              <a:lnSpc>
                <a:spcPct val="127777"/>
              </a:lnSpc>
              <a:spcBef>
                <a:spcPts val="0"/>
              </a:spcBef>
              <a:spcAft>
                <a:spcPts val="0"/>
              </a:spcAft>
              <a:buClr>
                <a:schemeClr val="dk1"/>
              </a:buClr>
              <a:buSzPts val="2340"/>
              <a:buChar char="•"/>
              <a:defRPr sz="1800"/>
            </a:lvl4pPr>
            <a:lvl5pPr indent="-377189" lvl="4" marL="2286000" algn="l">
              <a:lnSpc>
                <a:spcPct val="127777"/>
              </a:lnSpc>
              <a:spcBef>
                <a:spcPts val="0"/>
              </a:spcBef>
              <a:spcAft>
                <a:spcPts val="0"/>
              </a:spcAft>
              <a:buClr>
                <a:schemeClr val="dk1"/>
              </a:buClr>
              <a:buSzPts val="234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 en afbeelding">
  <p:cSld name="Tekst en afbeelding">
    <p:bg>
      <p:bgPr>
        <a:solidFill>
          <a:schemeClr val="lt1"/>
        </a:solidFill>
      </p:bgPr>
    </p:bg>
    <p:spTree>
      <p:nvGrpSpPr>
        <p:cNvPr id="47" name="Shape 47"/>
        <p:cNvGrpSpPr/>
        <p:nvPr/>
      </p:nvGrpSpPr>
      <p:grpSpPr>
        <a:xfrm>
          <a:off x="0" y="0"/>
          <a:ext cx="0" cy="0"/>
          <a:chOff x="0" y="0"/>
          <a:chExt cx="0" cy="0"/>
        </a:xfrm>
      </p:grpSpPr>
      <p:sp>
        <p:nvSpPr>
          <p:cNvPr id="48" name="Google Shape;48;p8"/>
          <p:cNvSpPr txBox="1"/>
          <p:nvPr>
            <p:ph type="title"/>
          </p:nvPr>
        </p:nvSpPr>
        <p:spPr>
          <a:xfrm>
            <a:off x="491526" y="396000"/>
            <a:ext cx="3999600" cy="576000"/>
          </a:xfrm>
          <a:prstGeom prst="rect">
            <a:avLst/>
          </a:prstGeom>
          <a:noFill/>
          <a:ln>
            <a:noFill/>
          </a:ln>
        </p:spPr>
        <p:txBody>
          <a:bodyPr anchorCtr="0" anchor="t" bIns="0" lIns="0" spcFirstLastPara="1" rIns="0" wrap="square" tIns="0">
            <a:noAutofit/>
          </a:bodyPr>
          <a:lstStyle>
            <a:lvl1pPr lvl="0" algn="l">
              <a:lnSpc>
                <a:spcPct val="114285"/>
              </a:lnSpc>
              <a:spcBef>
                <a:spcPts val="0"/>
              </a:spcBef>
              <a:spcAft>
                <a:spcPts val="0"/>
              </a:spcAft>
              <a:buClr>
                <a:schemeClr val="dk2"/>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93200" y="972000"/>
            <a:ext cx="3997800" cy="324000"/>
          </a:xfrm>
          <a:prstGeom prst="rect">
            <a:avLst/>
          </a:prstGeom>
          <a:noFill/>
          <a:ln>
            <a:noFill/>
          </a:ln>
        </p:spPr>
        <p:txBody>
          <a:bodyPr anchorCtr="0" anchor="t" bIns="0" lIns="0" spcFirstLastPara="1" rIns="0" wrap="square" tIns="0">
            <a:noAutofit/>
          </a:bodyPr>
          <a:lstStyle>
            <a:lvl1pPr indent="-228600" lvl="0" marL="457200" algn="l">
              <a:lnSpc>
                <a:spcPct val="127777"/>
              </a:lnSpc>
              <a:spcBef>
                <a:spcPts val="0"/>
              </a:spcBef>
              <a:spcAft>
                <a:spcPts val="0"/>
              </a:spcAft>
              <a:buClr>
                <a:schemeClr val="dk1"/>
              </a:buClr>
              <a:buSzPts val="2340"/>
              <a:buNone/>
              <a:defRPr b="0" i="0" sz="1800">
                <a:latin typeface="Arial"/>
                <a:ea typeface="Arial"/>
                <a:cs typeface="Arial"/>
                <a:sym typeface="Arial"/>
              </a:defRPr>
            </a:lvl1pPr>
            <a:lvl2pPr indent="-228600" lvl="1" marL="914400" algn="l">
              <a:lnSpc>
                <a:spcPct val="115000"/>
              </a:lnSpc>
              <a:spcBef>
                <a:spcPts val="0"/>
              </a:spcBef>
              <a:spcAft>
                <a:spcPts val="0"/>
              </a:spcAft>
              <a:buClr>
                <a:schemeClr val="dk1"/>
              </a:buClr>
              <a:buSzPts val="2600"/>
              <a:buNone/>
              <a:defRPr b="1" sz="2000"/>
            </a:lvl2pPr>
            <a:lvl3pPr indent="-228600" lvl="2" marL="1371600" algn="l">
              <a:lnSpc>
                <a:spcPct val="127777"/>
              </a:lnSpc>
              <a:spcBef>
                <a:spcPts val="0"/>
              </a:spcBef>
              <a:spcAft>
                <a:spcPts val="0"/>
              </a:spcAft>
              <a:buClr>
                <a:schemeClr val="dk1"/>
              </a:buClr>
              <a:buSzPts val="2340"/>
              <a:buNone/>
              <a:defRPr b="1" sz="1800"/>
            </a:lvl3pPr>
            <a:lvl4pPr indent="-228600" lvl="3" marL="1828800" algn="l">
              <a:lnSpc>
                <a:spcPct val="143750"/>
              </a:lnSpc>
              <a:spcBef>
                <a:spcPts val="0"/>
              </a:spcBef>
              <a:spcAft>
                <a:spcPts val="0"/>
              </a:spcAft>
              <a:buClr>
                <a:schemeClr val="dk1"/>
              </a:buClr>
              <a:buSzPts val="2080"/>
              <a:buNone/>
              <a:defRPr b="1" sz="1600"/>
            </a:lvl4pPr>
            <a:lvl5pPr indent="-228600" lvl="4" marL="2286000" algn="l">
              <a:lnSpc>
                <a:spcPct val="143750"/>
              </a:lnSpc>
              <a:spcBef>
                <a:spcPts val="0"/>
              </a:spcBef>
              <a:spcAft>
                <a:spcPts val="0"/>
              </a:spcAft>
              <a:buClr>
                <a:schemeClr val="dk1"/>
              </a:buClr>
              <a:buSzPts val="208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8"/>
          <p:cNvSpPr txBox="1"/>
          <p:nvPr>
            <p:ph idx="2" type="body"/>
          </p:nvPr>
        </p:nvSpPr>
        <p:spPr>
          <a:xfrm>
            <a:off x="491524" y="1296000"/>
            <a:ext cx="3999600" cy="3024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sz="1800"/>
            </a:lvl1pPr>
            <a:lvl2pPr indent="-377190" lvl="1" marL="914400" algn="l">
              <a:lnSpc>
                <a:spcPct val="127777"/>
              </a:lnSpc>
              <a:spcBef>
                <a:spcPts val="0"/>
              </a:spcBef>
              <a:spcAft>
                <a:spcPts val="0"/>
              </a:spcAft>
              <a:buClr>
                <a:schemeClr val="dk1"/>
              </a:buClr>
              <a:buSzPts val="2340"/>
              <a:buChar char="•"/>
              <a:defRPr sz="1800"/>
            </a:lvl2pPr>
            <a:lvl3pPr indent="-377189" lvl="2" marL="1371600" algn="l">
              <a:lnSpc>
                <a:spcPct val="127777"/>
              </a:lnSpc>
              <a:spcBef>
                <a:spcPts val="0"/>
              </a:spcBef>
              <a:spcAft>
                <a:spcPts val="0"/>
              </a:spcAft>
              <a:buClr>
                <a:schemeClr val="dk1"/>
              </a:buClr>
              <a:buSzPts val="2340"/>
              <a:buChar char="•"/>
              <a:defRPr sz="1800"/>
            </a:lvl3pPr>
            <a:lvl4pPr indent="-377189" lvl="3" marL="1828800" algn="l">
              <a:lnSpc>
                <a:spcPct val="127777"/>
              </a:lnSpc>
              <a:spcBef>
                <a:spcPts val="0"/>
              </a:spcBef>
              <a:spcAft>
                <a:spcPts val="0"/>
              </a:spcAft>
              <a:buClr>
                <a:schemeClr val="dk1"/>
              </a:buClr>
              <a:buSzPts val="2340"/>
              <a:buChar char="•"/>
              <a:defRPr sz="1800"/>
            </a:lvl4pPr>
            <a:lvl5pPr indent="-377189" lvl="4" marL="2286000" algn="l">
              <a:lnSpc>
                <a:spcPct val="127777"/>
              </a:lnSpc>
              <a:spcBef>
                <a:spcPts val="0"/>
              </a:spcBef>
              <a:spcAft>
                <a:spcPts val="0"/>
              </a:spcAft>
              <a:buClr>
                <a:schemeClr val="dk1"/>
              </a:buClr>
              <a:buSzPts val="234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8"/>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
        <p:nvSpPr>
          <p:cNvPr id="54" name="Google Shape;54;p8"/>
          <p:cNvSpPr/>
          <p:nvPr>
            <p:ph idx="3" type="pic"/>
          </p:nvPr>
        </p:nvSpPr>
        <p:spPr>
          <a:xfrm>
            <a:off x="4643999" y="396000"/>
            <a:ext cx="4014000" cy="3816000"/>
          </a:xfrm>
          <a:prstGeom prst="rect">
            <a:avLst/>
          </a:prstGeom>
          <a:solidFill>
            <a:srgbClr val="D8D8D8"/>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 en 2 afbeeldingen">
  <p:cSld name="Tekst en 2 afbeeldingen">
    <p:bg>
      <p:bgPr>
        <a:solidFill>
          <a:schemeClr val="lt1"/>
        </a:solidFill>
      </p:bgPr>
    </p:bg>
    <p:spTree>
      <p:nvGrpSpPr>
        <p:cNvPr id="55" name="Shape 55"/>
        <p:cNvGrpSpPr/>
        <p:nvPr/>
      </p:nvGrpSpPr>
      <p:grpSpPr>
        <a:xfrm>
          <a:off x="0" y="0"/>
          <a:ext cx="0" cy="0"/>
          <a:chOff x="0" y="0"/>
          <a:chExt cx="0" cy="0"/>
        </a:xfrm>
      </p:grpSpPr>
      <p:sp>
        <p:nvSpPr>
          <p:cNvPr id="56" name="Google Shape;56;p9"/>
          <p:cNvSpPr txBox="1"/>
          <p:nvPr>
            <p:ph type="title"/>
          </p:nvPr>
        </p:nvSpPr>
        <p:spPr>
          <a:xfrm>
            <a:off x="491526" y="396000"/>
            <a:ext cx="3999600" cy="576000"/>
          </a:xfrm>
          <a:prstGeom prst="rect">
            <a:avLst/>
          </a:prstGeom>
          <a:noFill/>
          <a:ln>
            <a:noFill/>
          </a:ln>
        </p:spPr>
        <p:txBody>
          <a:bodyPr anchorCtr="0" anchor="t" bIns="0" lIns="0" spcFirstLastPara="1" rIns="0" wrap="square" tIns="0">
            <a:noAutofit/>
          </a:bodyPr>
          <a:lstStyle>
            <a:lvl1pPr lvl="0" algn="l">
              <a:lnSpc>
                <a:spcPct val="114285"/>
              </a:lnSpc>
              <a:spcBef>
                <a:spcPts val="0"/>
              </a:spcBef>
              <a:spcAft>
                <a:spcPts val="0"/>
              </a:spcAft>
              <a:buClr>
                <a:schemeClr val="dk2"/>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idx="1" type="body"/>
          </p:nvPr>
        </p:nvSpPr>
        <p:spPr>
          <a:xfrm>
            <a:off x="491524" y="972000"/>
            <a:ext cx="3999600" cy="324000"/>
          </a:xfrm>
          <a:prstGeom prst="rect">
            <a:avLst/>
          </a:prstGeom>
          <a:noFill/>
          <a:ln>
            <a:noFill/>
          </a:ln>
        </p:spPr>
        <p:txBody>
          <a:bodyPr anchorCtr="0" anchor="t" bIns="0" lIns="0" spcFirstLastPara="1" rIns="0" wrap="square" tIns="0">
            <a:noAutofit/>
          </a:bodyPr>
          <a:lstStyle>
            <a:lvl1pPr indent="-228600" lvl="0" marL="457200" algn="l">
              <a:lnSpc>
                <a:spcPct val="127777"/>
              </a:lnSpc>
              <a:spcBef>
                <a:spcPts val="0"/>
              </a:spcBef>
              <a:spcAft>
                <a:spcPts val="0"/>
              </a:spcAft>
              <a:buClr>
                <a:schemeClr val="dk1"/>
              </a:buClr>
              <a:buSzPts val="2340"/>
              <a:buNone/>
              <a:defRPr b="0" i="0" sz="1800">
                <a:solidFill>
                  <a:schemeClr val="dk1"/>
                </a:solidFill>
                <a:latin typeface="Arial"/>
                <a:ea typeface="Arial"/>
                <a:cs typeface="Arial"/>
                <a:sym typeface="Arial"/>
              </a:defRPr>
            </a:lvl1pPr>
            <a:lvl2pPr indent="-228600" lvl="1" marL="914400" algn="l">
              <a:lnSpc>
                <a:spcPct val="115000"/>
              </a:lnSpc>
              <a:spcBef>
                <a:spcPts val="0"/>
              </a:spcBef>
              <a:spcAft>
                <a:spcPts val="0"/>
              </a:spcAft>
              <a:buClr>
                <a:schemeClr val="dk1"/>
              </a:buClr>
              <a:buSzPts val="2600"/>
              <a:buNone/>
              <a:defRPr b="1" sz="2000"/>
            </a:lvl2pPr>
            <a:lvl3pPr indent="-228600" lvl="2" marL="1371600" algn="l">
              <a:lnSpc>
                <a:spcPct val="127777"/>
              </a:lnSpc>
              <a:spcBef>
                <a:spcPts val="0"/>
              </a:spcBef>
              <a:spcAft>
                <a:spcPts val="0"/>
              </a:spcAft>
              <a:buClr>
                <a:schemeClr val="dk1"/>
              </a:buClr>
              <a:buSzPts val="2340"/>
              <a:buNone/>
              <a:defRPr b="1" sz="1800"/>
            </a:lvl3pPr>
            <a:lvl4pPr indent="-228600" lvl="3" marL="1828800" algn="l">
              <a:lnSpc>
                <a:spcPct val="143750"/>
              </a:lnSpc>
              <a:spcBef>
                <a:spcPts val="0"/>
              </a:spcBef>
              <a:spcAft>
                <a:spcPts val="0"/>
              </a:spcAft>
              <a:buClr>
                <a:schemeClr val="dk1"/>
              </a:buClr>
              <a:buSzPts val="2080"/>
              <a:buNone/>
              <a:defRPr b="1" sz="1600"/>
            </a:lvl4pPr>
            <a:lvl5pPr indent="-228600" lvl="4" marL="2286000" algn="l">
              <a:lnSpc>
                <a:spcPct val="143750"/>
              </a:lnSpc>
              <a:spcBef>
                <a:spcPts val="0"/>
              </a:spcBef>
              <a:spcAft>
                <a:spcPts val="0"/>
              </a:spcAft>
              <a:buClr>
                <a:schemeClr val="dk1"/>
              </a:buClr>
              <a:buSzPts val="208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8" name="Google Shape;58;p9"/>
          <p:cNvSpPr txBox="1"/>
          <p:nvPr>
            <p:ph idx="2" type="body"/>
          </p:nvPr>
        </p:nvSpPr>
        <p:spPr>
          <a:xfrm>
            <a:off x="491524" y="1296000"/>
            <a:ext cx="3999600" cy="3024000"/>
          </a:xfrm>
          <a:prstGeom prst="rect">
            <a:avLst/>
          </a:prstGeom>
          <a:noFill/>
          <a:ln>
            <a:noFill/>
          </a:ln>
        </p:spPr>
        <p:txBody>
          <a:bodyPr anchorCtr="0" anchor="t" bIns="0" lIns="0" spcFirstLastPara="1" rIns="0" wrap="square" tIns="0">
            <a:noAutofit/>
          </a:bodyPr>
          <a:lstStyle>
            <a:lvl1pPr indent="-377190" lvl="0" marL="457200" algn="l">
              <a:lnSpc>
                <a:spcPct val="127777"/>
              </a:lnSpc>
              <a:spcBef>
                <a:spcPts val="0"/>
              </a:spcBef>
              <a:spcAft>
                <a:spcPts val="0"/>
              </a:spcAft>
              <a:buClr>
                <a:schemeClr val="dk1"/>
              </a:buClr>
              <a:buSzPts val="2340"/>
              <a:buChar char="•"/>
              <a:defRPr sz="1800"/>
            </a:lvl1pPr>
            <a:lvl2pPr indent="-377190" lvl="1" marL="914400" algn="l">
              <a:lnSpc>
                <a:spcPct val="127777"/>
              </a:lnSpc>
              <a:spcBef>
                <a:spcPts val="0"/>
              </a:spcBef>
              <a:spcAft>
                <a:spcPts val="0"/>
              </a:spcAft>
              <a:buClr>
                <a:schemeClr val="dk1"/>
              </a:buClr>
              <a:buSzPts val="2340"/>
              <a:buChar char="•"/>
              <a:defRPr sz="1800"/>
            </a:lvl2pPr>
            <a:lvl3pPr indent="-377189" lvl="2" marL="1371600" algn="l">
              <a:lnSpc>
                <a:spcPct val="127777"/>
              </a:lnSpc>
              <a:spcBef>
                <a:spcPts val="0"/>
              </a:spcBef>
              <a:spcAft>
                <a:spcPts val="0"/>
              </a:spcAft>
              <a:buClr>
                <a:schemeClr val="dk1"/>
              </a:buClr>
              <a:buSzPts val="2340"/>
              <a:buChar char="•"/>
              <a:defRPr sz="1800"/>
            </a:lvl3pPr>
            <a:lvl4pPr indent="-377189" lvl="3" marL="1828800" algn="l">
              <a:lnSpc>
                <a:spcPct val="127777"/>
              </a:lnSpc>
              <a:spcBef>
                <a:spcPts val="0"/>
              </a:spcBef>
              <a:spcAft>
                <a:spcPts val="0"/>
              </a:spcAft>
              <a:buClr>
                <a:schemeClr val="dk1"/>
              </a:buClr>
              <a:buSzPts val="2340"/>
              <a:buChar char="•"/>
              <a:defRPr sz="1800"/>
            </a:lvl4pPr>
            <a:lvl5pPr indent="-377189" lvl="4" marL="2286000" algn="l">
              <a:lnSpc>
                <a:spcPct val="127777"/>
              </a:lnSpc>
              <a:spcBef>
                <a:spcPts val="0"/>
              </a:spcBef>
              <a:spcAft>
                <a:spcPts val="0"/>
              </a:spcAft>
              <a:buClr>
                <a:schemeClr val="dk1"/>
              </a:buClr>
              <a:buSzPts val="234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9" name="Google Shape;59;p9"/>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
        <p:nvSpPr>
          <p:cNvPr id="62" name="Google Shape;62;p9"/>
          <p:cNvSpPr/>
          <p:nvPr>
            <p:ph idx="3" type="pic"/>
          </p:nvPr>
        </p:nvSpPr>
        <p:spPr>
          <a:xfrm>
            <a:off x="4643999" y="396000"/>
            <a:ext cx="4014000" cy="1836000"/>
          </a:xfrm>
          <a:prstGeom prst="rect">
            <a:avLst/>
          </a:prstGeom>
          <a:solidFill>
            <a:srgbClr val="D8D8D8"/>
          </a:solidFill>
          <a:ln>
            <a:noFill/>
          </a:ln>
        </p:spPr>
      </p:sp>
      <p:sp>
        <p:nvSpPr>
          <p:cNvPr id="63" name="Google Shape;63;p9"/>
          <p:cNvSpPr/>
          <p:nvPr>
            <p:ph idx="4" type="pic"/>
          </p:nvPr>
        </p:nvSpPr>
        <p:spPr>
          <a:xfrm>
            <a:off x="4643999" y="2376000"/>
            <a:ext cx="4014000" cy="1836000"/>
          </a:xfrm>
          <a:prstGeom prst="rect">
            <a:avLst/>
          </a:prstGeom>
          <a:solidFill>
            <a:srgbClr val="D8D8D8"/>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een titel" type="titleOnly">
  <p:cSld name="TITLE_ONLY">
    <p:spTree>
      <p:nvGrpSpPr>
        <p:cNvPr id="64" name="Shape 64"/>
        <p:cNvGrpSpPr/>
        <p:nvPr/>
      </p:nvGrpSpPr>
      <p:grpSpPr>
        <a:xfrm>
          <a:off x="0" y="0"/>
          <a:ext cx="0" cy="0"/>
          <a:chOff x="0" y="0"/>
          <a:chExt cx="0" cy="0"/>
        </a:xfrm>
      </p:grpSpPr>
      <p:sp>
        <p:nvSpPr>
          <p:cNvPr id="65" name="Google Shape;65;p10"/>
          <p:cNvSpPr txBox="1"/>
          <p:nvPr>
            <p:ph type="title"/>
          </p:nvPr>
        </p:nvSpPr>
        <p:spPr>
          <a:xfrm>
            <a:off x="491525" y="396000"/>
            <a:ext cx="8172000" cy="576000"/>
          </a:xfrm>
          <a:prstGeom prst="rect">
            <a:avLst/>
          </a:prstGeom>
          <a:noFill/>
          <a:ln>
            <a:noFill/>
          </a:ln>
        </p:spPr>
        <p:txBody>
          <a:bodyPr anchorCtr="0" anchor="t" bIns="0" lIns="0" spcFirstLastPara="1" rIns="0" wrap="square" tIns="0">
            <a:noAutofit/>
          </a:bodyPr>
          <a:lstStyle>
            <a:lvl1pPr lvl="0" algn="l">
              <a:lnSpc>
                <a:spcPct val="177777"/>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0"/>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g" type="blank">
  <p:cSld name="BLANK">
    <p:spTree>
      <p:nvGrpSpPr>
        <p:cNvPr id="69" name="Shape 69"/>
        <p:cNvGrpSpPr/>
        <p:nvPr/>
      </p:nvGrpSpPr>
      <p:grpSpPr>
        <a:xfrm>
          <a:off x="0" y="0"/>
          <a:ext cx="0" cy="0"/>
          <a:chOff x="0" y="0"/>
          <a:chExt cx="0" cy="0"/>
        </a:xfrm>
      </p:grpSpPr>
      <p:sp>
        <p:nvSpPr>
          <p:cNvPr id="70" name="Google Shape;70;p11"/>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beelding met bijschrift">
  <p:cSld name="Afbeelding met bijschrift">
    <p:bg>
      <p:bgPr>
        <a:solidFill>
          <a:schemeClr val="lt1"/>
        </a:solidFill>
      </p:bgPr>
    </p:bg>
    <p:spTree>
      <p:nvGrpSpPr>
        <p:cNvPr id="73" name="Shape 73"/>
        <p:cNvGrpSpPr/>
        <p:nvPr/>
      </p:nvGrpSpPr>
      <p:grpSpPr>
        <a:xfrm>
          <a:off x="0" y="0"/>
          <a:ext cx="0" cy="0"/>
          <a:chOff x="0" y="0"/>
          <a:chExt cx="0" cy="0"/>
        </a:xfrm>
      </p:grpSpPr>
      <p:sp>
        <p:nvSpPr>
          <p:cNvPr id="74" name="Google Shape;74;p12"/>
          <p:cNvSpPr/>
          <p:nvPr>
            <p:ph idx="2" type="pic"/>
          </p:nvPr>
        </p:nvSpPr>
        <p:spPr>
          <a:xfrm>
            <a:off x="491525" y="792000"/>
            <a:ext cx="8172000" cy="3418500"/>
          </a:xfrm>
          <a:prstGeom prst="rect">
            <a:avLst/>
          </a:prstGeom>
          <a:solidFill>
            <a:srgbClr val="D8D8D8"/>
          </a:solidFill>
          <a:ln>
            <a:noFill/>
          </a:ln>
        </p:spPr>
      </p:sp>
      <p:sp>
        <p:nvSpPr>
          <p:cNvPr id="75" name="Google Shape;75;p12"/>
          <p:cNvSpPr txBox="1"/>
          <p:nvPr>
            <p:ph type="title"/>
          </p:nvPr>
        </p:nvSpPr>
        <p:spPr>
          <a:xfrm>
            <a:off x="491525" y="396000"/>
            <a:ext cx="8172000" cy="396000"/>
          </a:xfrm>
          <a:prstGeom prst="rect">
            <a:avLst/>
          </a:prstGeom>
          <a:noFill/>
          <a:ln>
            <a:noFill/>
          </a:ln>
        </p:spPr>
        <p:txBody>
          <a:bodyPr anchorCtr="0" anchor="t" bIns="0" lIns="0" spcFirstLastPara="1" rIns="0" wrap="square" tIns="0">
            <a:noAutofit/>
          </a:bodyPr>
          <a:lstStyle>
            <a:lvl1pPr lvl="0" algn="l">
              <a:lnSpc>
                <a:spcPct val="125000"/>
              </a:lnSpc>
              <a:spcBef>
                <a:spcPts val="0"/>
              </a:spcBef>
              <a:spcAft>
                <a:spcPts val="0"/>
              </a:spcAft>
              <a:buClr>
                <a:schemeClr val="dk1"/>
              </a:buClr>
              <a:buSzPts val="2000"/>
              <a:buFont typeface="Arial"/>
              <a:buNone/>
              <a:defRPr b="1" sz="2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EU_Logo_Groen_300.png" id="6" name="Google Shape;6;p1"/>
          <p:cNvPicPr preferRelativeResize="0"/>
          <p:nvPr/>
        </p:nvPicPr>
        <p:blipFill rotWithShape="1">
          <a:blip r:embed="rId1">
            <a:alphaModFix/>
          </a:blip>
          <a:srcRect b="0" l="0" r="0" t="0"/>
          <a:stretch/>
        </p:blipFill>
        <p:spPr>
          <a:xfrm>
            <a:off x="7308000" y="4298400"/>
            <a:ext cx="1432608" cy="576091"/>
          </a:xfrm>
          <a:prstGeom prst="rect">
            <a:avLst/>
          </a:prstGeom>
          <a:noFill/>
          <a:ln>
            <a:noFill/>
          </a:ln>
        </p:spPr>
      </p:pic>
      <p:sp>
        <p:nvSpPr>
          <p:cNvPr id="7" name="Google Shape;7;p1"/>
          <p:cNvSpPr txBox="1"/>
          <p:nvPr>
            <p:ph type="title"/>
          </p:nvPr>
        </p:nvSpPr>
        <p:spPr>
          <a:xfrm>
            <a:off x="491525" y="396000"/>
            <a:ext cx="8172000" cy="576000"/>
          </a:xfrm>
          <a:prstGeom prst="rect">
            <a:avLst/>
          </a:prstGeom>
          <a:noFill/>
          <a:ln>
            <a:noFill/>
          </a:ln>
        </p:spPr>
        <p:txBody>
          <a:bodyPr anchorCtr="0" anchor="t" bIns="0" lIns="0" spcFirstLastPara="1" rIns="0" wrap="square" tIns="0">
            <a:noAutofit/>
          </a:bodyPr>
          <a:lstStyle>
            <a:lvl1pPr lvl="0" marR="0" rtl="0" algn="l">
              <a:lnSpc>
                <a:spcPct val="114285"/>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491524" y="971551"/>
            <a:ext cx="8172000" cy="3348000"/>
          </a:xfrm>
          <a:prstGeom prst="rect">
            <a:avLst/>
          </a:prstGeom>
          <a:noFill/>
          <a:ln>
            <a:noFill/>
          </a:ln>
        </p:spPr>
        <p:txBody>
          <a:bodyPr anchorCtr="0" anchor="t" bIns="0" lIns="0" spcFirstLastPara="1" rIns="0" wrap="square" tIns="0">
            <a:noAutofit/>
          </a:bodyPr>
          <a:lstStyle>
            <a:lvl1pPr indent="-377190" lvl="0" marL="457200" marR="0" rtl="0" algn="l">
              <a:lnSpc>
                <a:spcPct val="127777"/>
              </a:lnSpc>
              <a:spcBef>
                <a:spcPts val="0"/>
              </a:spcBef>
              <a:spcAft>
                <a:spcPts val="0"/>
              </a:spcAft>
              <a:buClr>
                <a:schemeClr val="dk1"/>
              </a:buClr>
              <a:buSzPts val="2340"/>
              <a:buFont typeface="Arial"/>
              <a:buChar char="•"/>
              <a:defRPr b="0" i="0" sz="1800" u="none" cap="none" strike="noStrike">
                <a:solidFill>
                  <a:schemeClr val="dk1"/>
                </a:solidFill>
                <a:latin typeface="Arial"/>
                <a:ea typeface="Arial"/>
                <a:cs typeface="Arial"/>
                <a:sym typeface="Arial"/>
              </a:defRPr>
            </a:lvl1pPr>
            <a:lvl2pPr indent="-377190" lvl="1" marL="914400" marR="0" rtl="0" algn="l">
              <a:lnSpc>
                <a:spcPct val="127777"/>
              </a:lnSpc>
              <a:spcBef>
                <a:spcPts val="0"/>
              </a:spcBef>
              <a:spcAft>
                <a:spcPts val="0"/>
              </a:spcAft>
              <a:buClr>
                <a:schemeClr val="dk1"/>
              </a:buClr>
              <a:buSzPts val="2340"/>
              <a:buFont typeface="Arial"/>
              <a:buChar char="•"/>
              <a:defRPr b="0" i="0" sz="1800" u="none" cap="none" strike="noStrike">
                <a:solidFill>
                  <a:schemeClr val="dk1"/>
                </a:solidFill>
                <a:latin typeface="Arial"/>
                <a:ea typeface="Arial"/>
                <a:cs typeface="Arial"/>
                <a:sym typeface="Arial"/>
              </a:defRPr>
            </a:lvl2pPr>
            <a:lvl3pPr indent="-377189" lvl="2" marL="1371600" marR="0" rtl="0" algn="l">
              <a:lnSpc>
                <a:spcPct val="127777"/>
              </a:lnSpc>
              <a:spcBef>
                <a:spcPts val="0"/>
              </a:spcBef>
              <a:spcAft>
                <a:spcPts val="0"/>
              </a:spcAft>
              <a:buClr>
                <a:schemeClr val="dk1"/>
              </a:buClr>
              <a:buSzPts val="2340"/>
              <a:buFont typeface="Arial"/>
              <a:buChar char="•"/>
              <a:defRPr b="0" i="0" sz="1800" u="none" cap="none" strike="noStrike">
                <a:solidFill>
                  <a:schemeClr val="dk1"/>
                </a:solidFill>
                <a:latin typeface="Arial"/>
                <a:ea typeface="Arial"/>
                <a:cs typeface="Arial"/>
                <a:sym typeface="Arial"/>
              </a:defRPr>
            </a:lvl3pPr>
            <a:lvl4pPr indent="-377189" lvl="3" marL="1828800" marR="0" rtl="0" algn="l">
              <a:lnSpc>
                <a:spcPct val="127777"/>
              </a:lnSpc>
              <a:spcBef>
                <a:spcPts val="0"/>
              </a:spcBef>
              <a:spcAft>
                <a:spcPts val="0"/>
              </a:spcAft>
              <a:buClr>
                <a:schemeClr val="dk1"/>
              </a:buClr>
              <a:buSzPts val="2340"/>
              <a:buFont typeface="Arial"/>
              <a:buChar char="•"/>
              <a:defRPr b="0" i="0" sz="1800" u="none" cap="none" strike="noStrike">
                <a:solidFill>
                  <a:schemeClr val="dk1"/>
                </a:solidFill>
                <a:latin typeface="Arial"/>
                <a:ea typeface="Arial"/>
                <a:cs typeface="Arial"/>
                <a:sym typeface="Arial"/>
              </a:defRPr>
            </a:lvl4pPr>
            <a:lvl5pPr indent="-377189" lvl="4" marL="2286000" marR="0" rtl="0" algn="l">
              <a:lnSpc>
                <a:spcPct val="127777"/>
              </a:lnSpc>
              <a:spcBef>
                <a:spcPts val="0"/>
              </a:spcBef>
              <a:spcAft>
                <a:spcPts val="0"/>
              </a:spcAft>
              <a:buClr>
                <a:schemeClr val="dk1"/>
              </a:buClr>
              <a:buSzPts val="2340"/>
              <a:buFont typeface="Arial"/>
              <a:buChar char="•"/>
              <a:defRPr b="0" i="0" sz="18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 name="Google Shape;9;p1"/>
          <p:cNvSpPr txBox="1"/>
          <p:nvPr>
            <p:ph idx="10" type="dt"/>
          </p:nvPr>
        </p:nvSpPr>
        <p:spPr>
          <a:xfrm>
            <a:off x="817200" y="4663178"/>
            <a:ext cx="756000" cy="1803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1" type="ftr"/>
          </p:nvPr>
        </p:nvSpPr>
        <p:spPr>
          <a:xfrm>
            <a:off x="1573200" y="4663178"/>
            <a:ext cx="5103000" cy="1803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0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 name="Google Shape;11;p1"/>
          <p:cNvSpPr txBox="1"/>
          <p:nvPr>
            <p:ph idx="12" type="sldNum"/>
          </p:nvPr>
        </p:nvSpPr>
        <p:spPr>
          <a:xfrm>
            <a:off x="491525" y="4663178"/>
            <a:ext cx="324000" cy="18030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i="0" sz="1000" u="none" cap="none" strike="noStrike">
                <a:solidFill>
                  <a:schemeClr val="dk2"/>
                </a:solidFill>
                <a:latin typeface="Arial"/>
                <a:ea typeface="Arial"/>
                <a:cs typeface="Arial"/>
                <a:sym typeface="Arial"/>
              </a:defRPr>
            </a:lvl1pPr>
            <a:lvl2pPr indent="0" lvl="1" marL="0" marR="0" rtl="0" algn="l">
              <a:spcBef>
                <a:spcPts val="0"/>
              </a:spcBef>
              <a:buNone/>
              <a:defRPr b="0" i="0" sz="1000" u="none" cap="none" strike="noStrike">
                <a:solidFill>
                  <a:schemeClr val="dk2"/>
                </a:solidFill>
                <a:latin typeface="Arial"/>
                <a:ea typeface="Arial"/>
                <a:cs typeface="Arial"/>
                <a:sym typeface="Arial"/>
              </a:defRPr>
            </a:lvl2pPr>
            <a:lvl3pPr indent="0" lvl="2" marL="0" marR="0" rtl="0" algn="l">
              <a:spcBef>
                <a:spcPts val="0"/>
              </a:spcBef>
              <a:buNone/>
              <a:defRPr b="0" i="0" sz="1000" u="none" cap="none" strike="noStrike">
                <a:solidFill>
                  <a:schemeClr val="dk2"/>
                </a:solidFill>
                <a:latin typeface="Arial"/>
                <a:ea typeface="Arial"/>
                <a:cs typeface="Arial"/>
                <a:sym typeface="Arial"/>
              </a:defRPr>
            </a:lvl3pPr>
            <a:lvl4pPr indent="0" lvl="3" marL="0" marR="0" rtl="0" algn="l">
              <a:spcBef>
                <a:spcPts val="0"/>
              </a:spcBef>
              <a:buNone/>
              <a:defRPr b="0" i="0" sz="1000" u="none" cap="none" strike="noStrike">
                <a:solidFill>
                  <a:schemeClr val="dk2"/>
                </a:solidFill>
                <a:latin typeface="Arial"/>
                <a:ea typeface="Arial"/>
                <a:cs typeface="Arial"/>
                <a:sym typeface="Arial"/>
              </a:defRPr>
            </a:lvl4pPr>
            <a:lvl5pPr indent="0" lvl="4" marL="0" marR="0" rtl="0" algn="l">
              <a:spcBef>
                <a:spcPts val="0"/>
              </a:spcBef>
              <a:buNone/>
              <a:defRPr b="0" i="0" sz="1000" u="none" cap="none" strike="noStrike">
                <a:solidFill>
                  <a:schemeClr val="dk2"/>
                </a:solidFill>
                <a:latin typeface="Arial"/>
                <a:ea typeface="Arial"/>
                <a:cs typeface="Arial"/>
                <a:sym typeface="Arial"/>
              </a:defRPr>
            </a:lvl5pPr>
            <a:lvl6pPr indent="0" lvl="5" marL="0" marR="0" rtl="0" algn="l">
              <a:spcBef>
                <a:spcPts val="0"/>
              </a:spcBef>
              <a:buNone/>
              <a:defRPr b="0" i="0" sz="1000" u="none" cap="none" strike="noStrike">
                <a:solidFill>
                  <a:schemeClr val="dk2"/>
                </a:solidFill>
                <a:latin typeface="Arial"/>
                <a:ea typeface="Arial"/>
                <a:cs typeface="Arial"/>
                <a:sym typeface="Arial"/>
              </a:defRPr>
            </a:lvl6pPr>
            <a:lvl7pPr indent="0" lvl="6" marL="0" marR="0" rtl="0" algn="l">
              <a:spcBef>
                <a:spcPts val="0"/>
              </a:spcBef>
              <a:buNone/>
              <a:defRPr b="0" i="0" sz="1000" u="none" cap="none" strike="noStrike">
                <a:solidFill>
                  <a:schemeClr val="dk2"/>
                </a:solidFill>
                <a:latin typeface="Arial"/>
                <a:ea typeface="Arial"/>
                <a:cs typeface="Arial"/>
                <a:sym typeface="Arial"/>
              </a:defRPr>
            </a:lvl7pPr>
            <a:lvl8pPr indent="0" lvl="7" marL="0" marR="0" rtl="0" algn="l">
              <a:spcBef>
                <a:spcPts val="0"/>
              </a:spcBef>
              <a:buNone/>
              <a:defRPr b="0" i="0" sz="1000" u="none" cap="none" strike="noStrike">
                <a:solidFill>
                  <a:schemeClr val="dk2"/>
                </a:solidFill>
                <a:latin typeface="Arial"/>
                <a:ea typeface="Arial"/>
                <a:cs typeface="Arial"/>
                <a:sym typeface="Arial"/>
              </a:defRPr>
            </a:lvl8pPr>
            <a:lvl9pPr indent="0" lvl="8" marL="0" marR="0" rtl="0" algn="l">
              <a:spcBef>
                <a:spcPts val="0"/>
              </a:spcBef>
              <a:buNone/>
              <a:defRPr b="0" i="0" sz="10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3"/>
          <p:cNvSpPr txBox="1"/>
          <p:nvPr>
            <p:ph type="ctrTitle"/>
          </p:nvPr>
        </p:nvSpPr>
        <p:spPr>
          <a:xfrm>
            <a:off x="476700" y="919700"/>
            <a:ext cx="8190600" cy="14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sz="4200"/>
              <a:t>DISCUSSION</a:t>
            </a:r>
            <a:endParaRPr sz="5800"/>
          </a:p>
        </p:txBody>
      </p:sp>
      <p:sp>
        <p:nvSpPr>
          <p:cNvPr id="84" name="Google Shape;84;p13"/>
          <p:cNvSpPr txBox="1"/>
          <p:nvPr>
            <p:ph idx="1" type="subTitle"/>
          </p:nvPr>
        </p:nvSpPr>
        <p:spPr>
          <a:xfrm>
            <a:off x="476701" y="1761750"/>
            <a:ext cx="5940900" cy="810000"/>
          </a:xfrm>
          <a:prstGeom prst="rect">
            <a:avLst/>
          </a:prstGeom>
        </p:spPr>
        <p:txBody>
          <a:bodyPr anchorCtr="0" anchor="t" bIns="0" lIns="0" spcFirstLastPara="1" rIns="0" wrap="square" tIns="0">
            <a:noAutofit/>
          </a:bodyPr>
          <a:lstStyle/>
          <a:p>
            <a:pPr indent="0" lvl="0" marL="0" rtl="0" algn="l">
              <a:lnSpc>
                <a:spcPct val="87500"/>
              </a:lnSpc>
              <a:spcBef>
                <a:spcPts val="0"/>
              </a:spcBef>
              <a:spcAft>
                <a:spcPts val="0"/>
              </a:spcAft>
              <a:buClr>
                <a:schemeClr val="hlink"/>
              </a:buClr>
              <a:buSzPts val="1100"/>
              <a:buFont typeface="Arial"/>
              <a:buNone/>
            </a:pPr>
            <a:r>
              <a:rPr lang="nl" sz="2400">
                <a:solidFill>
                  <a:schemeClr val="lt1"/>
                </a:solidFill>
              </a:rPr>
              <a:t>Catão, L. A., &amp; Milesi-Ferretti, G. M. (2014). External liabilities and crises. Journal of</a:t>
            </a:r>
            <a:endParaRPr sz="2400">
              <a:solidFill>
                <a:schemeClr val="lt1"/>
              </a:solidFill>
            </a:endParaRPr>
          </a:p>
          <a:p>
            <a:pPr indent="0" lvl="0" marL="0" rtl="0" algn="l">
              <a:lnSpc>
                <a:spcPct val="87500"/>
              </a:lnSpc>
              <a:spcBef>
                <a:spcPts val="0"/>
              </a:spcBef>
              <a:spcAft>
                <a:spcPts val="0"/>
              </a:spcAft>
              <a:buClr>
                <a:schemeClr val="hlink"/>
              </a:buClr>
              <a:buSzPts val="1100"/>
              <a:buFont typeface="Arial"/>
              <a:buNone/>
            </a:pPr>
            <a:r>
              <a:rPr lang="nl" sz="2400">
                <a:solidFill>
                  <a:schemeClr val="lt1"/>
                </a:solidFill>
              </a:rPr>
              <a:t>International Economics, 94(1), 18-32.</a:t>
            </a:r>
            <a:endParaRPr sz="2400">
              <a:solidFill>
                <a:schemeClr val="lt1"/>
              </a:solidFill>
            </a:endParaRPr>
          </a:p>
          <a:p>
            <a:pPr indent="0" lvl="0" marL="0" rtl="0" algn="l">
              <a:lnSpc>
                <a:spcPct val="87500"/>
              </a:lnSpc>
              <a:spcBef>
                <a:spcPts val="0"/>
              </a:spcBef>
              <a:spcAft>
                <a:spcPts val="0"/>
              </a:spcAft>
              <a:buClr>
                <a:schemeClr val="hlink"/>
              </a:buClr>
              <a:buSzPts val="1100"/>
              <a:buFont typeface="Arial"/>
              <a:buNone/>
            </a:pPr>
            <a:r>
              <a:t/>
            </a:r>
            <a:endParaRPr sz="2400">
              <a:solidFill>
                <a:schemeClr val="lt1"/>
              </a:solidFill>
            </a:endParaRPr>
          </a:p>
        </p:txBody>
      </p:sp>
      <p:sp>
        <p:nvSpPr>
          <p:cNvPr id="85" name="Google Shape;85;p13"/>
          <p:cNvSpPr txBox="1"/>
          <p:nvPr/>
        </p:nvSpPr>
        <p:spPr>
          <a:xfrm>
            <a:off x="491525" y="3321125"/>
            <a:ext cx="7666500" cy="810000"/>
          </a:xfrm>
          <a:prstGeom prst="rect">
            <a:avLst/>
          </a:prstGeom>
          <a:noFill/>
          <a:ln>
            <a:noFill/>
          </a:ln>
        </p:spPr>
        <p:txBody>
          <a:bodyPr anchorCtr="0" anchor="t" bIns="0" lIns="0" spcFirstLastPara="1" rIns="0" wrap="square" tIns="0">
            <a:noAutofit/>
          </a:bodyPr>
          <a:lstStyle/>
          <a:p>
            <a:pPr indent="0" lvl="0" marL="0" rtl="0" algn="l">
              <a:lnSpc>
                <a:spcPct val="127777"/>
              </a:lnSpc>
              <a:spcBef>
                <a:spcPts val="0"/>
              </a:spcBef>
              <a:spcAft>
                <a:spcPts val="0"/>
              </a:spcAft>
              <a:buNone/>
            </a:pPr>
            <a:r>
              <a:rPr lang="nl" sz="1800" u="sng">
                <a:solidFill>
                  <a:srgbClr val="FFFFFF"/>
                </a:solidFill>
              </a:rPr>
              <a:t>Group 8:</a:t>
            </a:r>
            <a:endParaRPr sz="1800" u="sng">
              <a:solidFill>
                <a:srgbClr val="FFFFFF"/>
              </a:solidFill>
            </a:endParaRPr>
          </a:p>
          <a:p>
            <a:pPr indent="0" lvl="0" marL="0" rtl="0" algn="l">
              <a:lnSpc>
                <a:spcPct val="115000"/>
              </a:lnSpc>
              <a:spcBef>
                <a:spcPts val="0"/>
              </a:spcBef>
              <a:spcAft>
                <a:spcPts val="0"/>
              </a:spcAft>
              <a:buNone/>
            </a:pPr>
            <a:r>
              <a:rPr lang="nl" sz="1800">
                <a:solidFill>
                  <a:srgbClr val="FFFFFF"/>
                </a:solidFill>
              </a:rPr>
              <a:t>Darin Biserta, Ivanna Rubio Leiva, Jan Smuts, Maja Neumayer, Zita Szekér</a:t>
            </a:r>
            <a:endParaRPr sz="18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9" name="Shape 89"/>
        <p:cNvGrpSpPr/>
        <p:nvPr/>
      </p:nvGrpSpPr>
      <p:grpSpPr>
        <a:xfrm>
          <a:off x="0" y="0"/>
          <a:ext cx="0" cy="0"/>
          <a:chOff x="0" y="0"/>
          <a:chExt cx="0" cy="0"/>
        </a:xfrm>
      </p:grpSpPr>
      <p:sp>
        <p:nvSpPr>
          <p:cNvPr id="90" name="Google Shape;90;p14"/>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Motivation &amp; Research </a:t>
            </a:r>
            <a:r>
              <a:rPr b="1" lang="nl">
                <a:solidFill>
                  <a:schemeClr val="lt1"/>
                </a:solidFill>
              </a:rPr>
              <a:t>Questions</a:t>
            </a:r>
            <a:endParaRPr b="1">
              <a:solidFill>
                <a:schemeClr val="lt1"/>
              </a:solidFill>
            </a:endParaRPr>
          </a:p>
        </p:txBody>
      </p:sp>
      <p:sp>
        <p:nvSpPr>
          <p:cNvPr id="91" name="Google Shape;91;p14"/>
          <p:cNvSpPr txBox="1"/>
          <p:nvPr>
            <p:ph idx="1" type="body"/>
          </p:nvPr>
        </p:nvSpPr>
        <p:spPr>
          <a:xfrm>
            <a:off x="361625" y="892175"/>
            <a:ext cx="4080600" cy="373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sz="1200">
                <a:solidFill>
                  <a:schemeClr val="lt1"/>
                </a:solidFill>
              </a:rPr>
              <a:t>Background</a:t>
            </a:r>
            <a:endParaRPr b="1" sz="1200">
              <a:solidFill>
                <a:schemeClr val="lt1"/>
              </a:solidFill>
            </a:endParaRPr>
          </a:p>
          <a:p>
            <a:pPr indent="-304800" lvl="0" marL="457200" rtl="0" algn="l">
              <a:lnSpc>
                <a:spcPct val="115000"/>
              </a:lnSpc>
              <a:spcBef>
                <a:spcPts val="1200"/>
              </a:spcBef>
              <a:spcAft>
                <a:spcPts val="0"/>
              </a:spcAft>
              <a:buClr>
                <a:schemeClr val="lt1"/>
              </a:buClr>
              <a:buSzPts val="1200"/>
              <a:buChar char="●"/>
            </a:pPr>
            <a:r>
              <a:rPr lang="nl" sz="1200">
                <a:solidFill>
                  <a:schemeClr val="lt1"/>
                </a:solidFill>
              </a:rPr>
              <a:t>In theory, international borrowing allows countries to smooth consumption and finance investment, helping stabilize economies in the presence of shocks.</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nl" sz="1200">
                <a:solidFill>
                  <a:schemeClr val="lt1"/>
                </a:solidFill>
              </a:rPr>
              <a:t>However, many financial crises have been preceded by large external imbalances and rising external liabilities.</a:t>
            </a:r>
            <a:endParaRPr sz="1200">
              <a:solidFill>
                <a:schemeClr val="lt1"/>
              </a:solidFill>
            </a:endParaRPr>
          </a:p>
          <a:p>
            <a:pPr indent="-317500" lvl="0" marL="457200" rtl="0" algn="l">
              <a:lnSpc>
                <a:spcPct val="115000"/>
              </a:lnSpc>
              <a:spcBef>
                <a:spcPts val="0"/>
              </a:spcBef>
              <a:spcAft>
                <a:spcPts val="0"/>
              </a:spcAft>
              <a:buClr>
                <a:schemeClr val="lt1"/>
              </a:buClr>
              <a:buSzPts val="1400"/>
              <a:buChar char="●"/>
            </a:pPr>
            <a:r>
              <a:rPr lang="nl" sz="1200">
                <a:solidFill>
                  <a:schemeClr val="lt1"/>
                </a:solidFill>
              </a:rPr>
              <a:t>While previous research has mainly focused on current account deficits or capital flows, less attention has been given to the levels and composition of external liabilities recorded in countries’ external balance sheets.</a:t>
            </a:r>
            <a:endParaRPr sz="1400">
              <a:solidFill>
                <a:schemeClr val="lt1"/>
              </a:solidFill>
            </a:endParaRPr>
          </a:p>
          <a:p>
            <a:pPr indent="-304800" lvl="0" marL="457200" rtl="0" algn="l">
              <a:lnSpc>
                <a:spcPct val="115000"/>
              </a:lnSpc>
              <a:spcBef>
                <a:spcPts val="0"/>
              </a:spcBef>
              <a:spcAft>
                <a:spcPts val="0"/>
              </a:spcAft>
              <a:buClr>
                <a:schemeClr val="lt1"/>
              </a:buClr>
              <a:buSzPts val="1200"/>
              <a:buChar char="●"/>
            </a:pPr>
            <a:r>
              <a:rPr lang="nl" sz="1200">
                <a:solidFill>
                  <a:schemeClr val="lt1"/>
                </a:solidFill>
              </a:rPr>
              <a:t>This raises an important question: does the accumulation of external liabilities increase a country’s vulnerability to external financial crises?</a:t>
            </a:r>
            <a:endParaRPr sz="1500">
              <a:solidFill>
                <a:schemeClr val="lt1"/>
              </a:solidFill>
            </a:endParaRPr>
          </a:p>
          <a:p>
            <a:pPr indent="0" lvl="0" marL="0" rtl="0" algn="l">
              <a:spcBef>
                <a:spcPts val="1200"/>
              </a:spcBef>
              <a:spcAft>
                <a:spcPts val="0"/>
              </a:spcAft>
              <a:buNone/>
            </a:pPr>
            <a:r>
              <a:t/>
            </a:r>
            <a:endParaRPr b="1" sz="1200">
              <a:solidFill>
                <a:schemeClr val="lt1"/>
              </a:solidFill>
            </a:endParaRPr>
          </a:p>
        </p:txBody>
      </p:sp>
      <p:sp>
        <p:nvSpPr>
          <p:cNvPr id="92" name="Google Shape;92;p14"/>
          <p:cNvSpPr txBox="1"/>
          <p:nvPr/>
        </p:nvSpPr>
        <p:spPr>
          <a:xfrm>
            <a:off x="4553225" y="817625"/>
            <a:ext cx="4429200" cy="3968700"/>
          </a:xfrm>
          <a:prstGeom prst="rect">
            <a:avLst/>
          </a:prstGeom>
          <a:noFill/>
          <a:ln>
            <a:noFill/>
          </a:ln>
        </p:spPr>
        <p:txBody>
          <a:bodyPr anchorCtr="0" anchor="t" bIns="91425" lIns="91425" spcFirstLastPara="1" rIns="91425" wrap="square" tIns="91425">
            <a:noAutofit/>
          </a:bodyPr>
          <a:lstStyle/>
          <a:p>
            <a:pPr indent="0" lvl="0" marL="0" rtl="0" algn="l">
              <a:lnSpc>
                <a:spcPct val="127777"/>
              </a:lnSpc>
              <a:spcBef>
                <a:spcPts val="0"/>
              </a:spcBef>
              <a:spcAft>
                <a:spcPts val="0"/>
              </a:spcAft>
              <a:buNone/>
            </a:pPr>
            <a:r>
              <a:rPr b="1" lang="nl" sz="1200">
                <a:solidFill>
                  <a:schemeClr val="lt1"/>
                </a:solidFill>
              </a:rPr>
              <a:t>Research Questions</a:t>
            </a:r>
            <a:endParaRPr b="1" sz="1200">
              <a:solidFill>
                <a:schemeClr val="lt1"/>
              </a:solidFill>
            </a:endParaRPr>
          </a:p>
          <a:p>
            <a:pPr indent="0" lvl="0" marL="0" rtl="0" algn="l">
              <a:lnSpc>
                <a:spcPct val="127777"/>
              </a:lnSpc>
              <a:spcBef>
                <a:spcPts val="0"/>
              </a:spcBef>
              <a:spcAft>
                <a:spcPts val="0"/>
              </a:spcAft>
              <a:buClr>
                <a:schemeClr val="hlink"/>
              </a:buClr>
              <a:buSzPts val="1100"/>
              <a:buFont typeface="Arial"/>
              <a:buNone/>
            </a:pPr>
            <a:r>
              <a:t/>
            </a:r>
            <a:endParaRPr b="1" sz="1200">
              <a:solidFill>
                <a:schemeClr val="lt1"/>
              </a:solidFill>
            </a:endParaRPr>
          </a:p>
          <a:p>
            <a:pPr indent="0" lvl="0" marL="0" rtl="0" algn="l">
              <a:lnSpc>
                <a:spcPct val="127777"/>
              </a:lnSpc>
              <a:spcBef>
                <a:spcPts val="0"/>
              </a:spcBef>
              <a:spcAft>
                <a:spcPts val="0"/>
              </a:spcAft>
              <a:buClr>
                <a:schemeClr val="hlink"/>
              </a:buClr>
              <a:buSzPts val="1100"/>
              <a:buFont typeface="Arial"/>
              <a:buNone/>
            </a:pPr>
            <a:r>
              <a:rPr lang="nl" sz="1200">
                <a:solidFill>
                  <a:schemeClr val="lt1"/>
                </a:solidFill>
              </a:rPr>
              <a:t>This paper examines whether large external liabilities increase the probability of external financial crises. </a:t>
            </a:r>
            <a:endParaRPr sz="1200">
              <a:solidFill>
                <a:schemeClr val="lt1"/>
              </a:solidFill>
            </a:endParaRPr>
          </a:p>
          <a:p>
            <a:pPr indent="-304800" lvl="0" marL="457200" rtl="0" algn="l">
              <a:lnSpc>
                <a:spcPct val="127777"/>
              </a:lnSpc>
              <a:spcBef>
                <a:spcPts val="0"/>
              </a:spcBef>
              <a:spcAft>
                <a:spcPts val="0"/>
              </a:spcAft>
              <a:buClr>
                <a:schemeClr val="lt1"/>
              </a:buClr>
              <a:buSzPts val="1200"/>
              <a:buAutoNum type="arabicParenR"/>
            </a:pPr>
            <a:r>
              <a:rPr lang="nl" sz="1200">
                <a:solidFill>
                  <a:schemeClr val="lt1"/>
                </a:solidFill>
              </a:rPr>
              <a:t>Identify thresholds beyond which additional accumulation of net external liabilities leads to a spike in external crisis risk.</a:t>
            </a:r>
            <a:endParaRPr sz="1200">
              <a:solidFill>
                <a:schemeClr val="lt1"/>
              </a:solidFill>
            </a:endParaRPr>
          </a:p>
          <a:p>
            <a:pPr indent="-304800" lvl="0" marL="457200" rtl="0" algn="l">
              <a:lnSpc>
                <a:spcPct val="127777"/>
              </a:lnSpc>
              <a:spcBef>
                <a:spcPts val="0"/>
              </a:spcBef>
              <a:spcAft>
                <a:spcPts val="0"/>
              </a:spcAft>
              <a:buClr>
                <a:schemeClr val="lt1"/>
              </a:buClr>
              <a:buSzPts val="1200"/>
              <a:buAutoNum type="arabicParenR"/>
            </a:pPr>
            <a:r>
              <a:rPr lang="nl" sz="1200">
                <a:solidFill>
                  <a:schemeClr val="lt1"/>
                </a:solidFill>
              </a:rPr>
              <a:t>Assess whether composition of external assets and liabilities influences crisis risk.</a:t>
            </a:r>
            <a:endParaRPr sz="1200">
              <a:solidFill>
                <a:schemeClr val="lt1"/>
              </a:solidFill>
            </a:endParaRPr>
          </a:p>
          <a:p>
            <a:pPr indent="-304800" lvl="0" marL="457200" rtl="0" algn="l">
              <a:lnSpc>
                <a:spcPct val="127777"/>
              </a:lnSpc>
              <a:spcBef>
                <a:spcPts val="0"/>
              </a:spcBef>
              <a:spcAft>
                <a:spcPts val="0"/>
              </a:spcAft>
              <a:buClr>
                <a:schemeClr val="lt1"/>
              </a:buClr>
              <a:buSzPts val="1200"/>
              <a:buAutoNum type="arabicParenR"/>
            </a:pPr>
            <a:r>
              <a:rPr lang="nl" sz="1200">
                <a:solidFill>
                  <a:schemeClr val="lt1"/>
                </a:solidFill>
              </a:rPr>
              <a:t>Formulate optimal models for predicting future external crises.</a:t>
            </a:r>
            <a:endParaRPr sz="1200">
              <a:solidFill>
                <a:schemeClr val="lt1"/>
              </a:solidFill>
            </a:endParaRPr>
          </a:p>
          <a:p>
            <a:pPr indent="0" lvl="0" marL="457200" rtl="0" algn="l">
              <a:lnSpc>
                <a:spcPct val="115000"/>
              </a:lnSpc>
              <a:spcBef>
                <a:spcPts val="1200"/>
              </a:spcBef>
              <a:spcAft>
                <a:spcPts val="0"/>
              </a:spcAft>
              <a:buNone/>
            </a:pPr>
            <a:br>
              <a:rPr lang="nl" sz="1200">
                <a:solidFill>
                  <a:schemeClr val="lt1"/>
                </a:solidFill>
              </a:rPr>
            </a:br>
            <a:endParaRPr sz="1200">
              <a:solidFill>
                <a:schemeClr val="lt1"/>
              </a:solidFill>
            </a:endParaRPr>
          </a:p>
          <a:p>
            <a:pPr indent="0" lvl="0" marL="0" rtl="0" algn="l">
              <a:lnSpc>
                <a:spcPct val="127777"/>
              </a:lnSpc>
              <a:spcBef>
                <a:spcPts val="1200"/>
              </a:spcBef>
              <a:spcAft>
                <a:spcPts val="0"/>
              </a:spcAft>
              <a:buNone/>
            </a:pPr>
            <a:r>
              <a:t/>
            </a:r>
            <a:endParaRPr sz="1200">
              <a:solidFill>
                <a:schemeClr val="lt1"/>
              </a:solidFill>
            </a:endParaRPr>
          </a:p>
          <a:p>
            <a:pPr indent="0" lvl="0" marL="0" rtl="0" algn="l">
              <a:lnSpc>
                <a:spcPct val="127777"/>
              </a:lnSpc>
              <a:spcBef>
                <a:spcPts val="0"/>
              </a:spcBef>
              <a:spcAft>
                <a:spcPts val="0"/>
              </a:spcAft>
              <a:buClr>
                <a:schemeClr val="hlink"/>
              </a:buClr>
              <a:buSzPts val="1100"/>
              <a:buFont typeface="Arial"/>
              <a:buNone/>
            </a:pPr>
            <a:r>
              <a:t/>
            </a:r>
            <a:endParaRPr sz="1200">
              <a:solidFill>
                <a:schemeClr val="lt1"/>
              </a:solidFill>
            </a:endParaRPr>
          </a:p>
          <a:p>
            <a:pPr indent="0" lvl="0" marL="0" rtl="0" algn="l">
              <a:spcBef>
                <a:spcPts val="0"/>
              </a:spcBef>
              <a:spcAft>
                <a:spcPts val="0"/>
              </a:spcAft>
              <a:buNone/>
            </a:pPr>
            <a:r>
              <a:t/>
            </a:r>
            <a:endParaRPr sz="1200">
              <a:solidFill>
                <a:schemeClr val="lt1"/>
              </a:solidFill>
            </a:endParaRPr>
          </a:p>
        </p:txBody>
      </p:sp>
      <p:cxnSp>
        <p:nvCxnSpPr>
          <p:cNvPr id="93" name="Google Shape;93;p14"/>
          <p:cNvCxnSpPr/>
          <p:nvPr/>
        </p:nvCxnSpPr>
        <p:spPr>
          <a:xfrm>
            <a:off x="4553225" y="873125"/>
            <a:ext cx="15900" cy="3857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7" name="Shape 97"/>
        <p:cNvGrpSpPr/>
        <p:nvPr/>
      </p:nvGrpSpPr>
      <p:grpSpPr>
        <a:xfrm>
          <a:off x="0" y="0"/>
          <a:ext cx="0" cy="0"/>
          <a:chOff x="0" y="0"/>
          <a:chExt cx="0" cy="0"/>
        </a:xfrm>
      </p:grpSpPr>
      <p:sp>
        <p:nvSpPr>
          <p:cNvPr id="98" name="Google Shape;98;p15"/>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Data</a:t>
            </a:r>
            <a:endParaRPr b="1">
              <a:solidFill>
                <a:schemeClr val="lt1"/>
              </a:solidFill>
            </a:endParaRPr>
          </a:p>
        </p:txBody>
      </p:sp>
      <p:sp>
        <p:nvSpPr>
          <p:cNvPr id="99" name="Google Shape;99;p15"/>
          <p:cNvSpPr txBox="1"/>
          <p:nvPr>
            <p:ph idx="1" type="body"/>
          </p:nvPr>
        </p:nvSpPr>
        <p:spPr>
          <a:xfrm>
            <a:off x="491524" y="971550"/>
            <a:ext cx="3959100" cy="334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sz="1600">
                <a:solidFill>
                  <a:schemeClr val="lt1"/>
                </a:solidFill>
              </a:rPr>
              <a:t>Dataset</a:t>
            </a:r>
            <a:endParaRPr b="1" sz="1600">
              <a:solidFill>
                <a:schemeClr val="lt1"/>
              </a:solidFill>
            </a:endParaRPr>
          </a:p>
          <a:p>
            <a:pPr indent="-317500" lvl="0" marL="457200" rtl="0" algn="l">
              <a:spcBef>
                <a:spcPts val="0"/>
              </a:spcBef>
              <a:spcAft>
                <a:spcPts val="0"/>
              </a:spcAft>
              <a:buClr>
                <a:schemeClr val="lt1"/>
              </a:buClr>
              <a:buSzPts val="1400"/>
              <a:buChar char="-"/>
            </a:pPr>
            <a:r>
              <a:rPr lang="nl" sz="1400">
                <a:solidFill>
                  <a:schemeClr val="lt1"/>
                </a:solidFill>
              </a:rPr>
              <a:t>Panel of 70 countries (Inc. 41 emerging markets)</a:t>
            </a:r>
            <a:endParaRPr sz="1400">
              <a:solidFill>
                <a:schemeClr val="lt1"/>
              </a:solidFill>
            </a:endParaRPr>
          </a:p>
          <a:p>
            <a:pPr indent="-317500" lvl="0" marL="457200" rtl="0" algn="l">
              <a:spcBef>
                <a:spcPts val="0"/>
              </a:spcBef>
              <a:spcAft>
                <a:spcPts val="0"/>
              </a:spcAft>
              <a:buClr>
                <a:schemeClr val="lt1"/>
              </a:buClr>
              <a:buSzPts val="1400"/>
              <a:buChar char="-"/>
            </a:pPr>
            <a:r>
              <a:rPr lang="nl" sz="1400">
                <a:solidFill>
                  <a:schemeClr val="lt1"/>
                </a:solidFill>
              </a:rPr>
              <a:t>Period: 1970-2011</a:t>
            </a:r>
            <a:endParaRPr sz="1400">
              <a:solidFill>
                <a:schemeClr val="lt1"/>
              </a:solidFill>
            </a:endParaRPr>
          </a:p>
          <a:p>
            <a:pPr indent="0" lvl="0" marL="0" rtl="0" algn="l">
              <a:spcBef>
                <a:spcPts val="0"/>
              </a:spcBef>
              <a:spcAft>
                <a:spcPts val="0"/>
              </a:spcAft>
              <a:buNone/>
            </a:pPr>
            <a:r>
              <a:t/>
            </a:r>
            <a:endParaRPr sz="1400">
              <a:solidFill>
                <a:schemeClr val="lt1"/>
              </a:solidFill>
            </a:endParaRPr>
          </a:p>
          <a:p>
            <a:pPr indent="0" lvl="0" marL="0" rtl="0" algn="l">
              <a:spcBef>
                <a:spcPts val="0"/>
              </a:spcBef>
              <a:spcAft>
                <a:spcPts val="0"/>
              </a:spcAft>
              <a:buNone/>
            </a:pPr>
            <a:r>
              <a:rPr b="1" lang="nl" sz="1600">
                <a:solidFill>
                  <a:schemeClr val="lt1"/>
                </a:solidFill>
              </a:rPr>
              <a:t>Key variables</a:t>
            </a:r>
            <a:endParaRPr b="1" sz="1600">
              <a:solidFill>
                <a:schemeClr val="lt1"/>
              </a:solidFill>
            </a:endParaRPr>
          </a:p>
          <a:p>
            <a:pPr indent="-330200" lvl="0" marL="457200" rtl="0" algn="l">
              <a:spcBef>
                <a:spcPts val="0"/>
              </a:spcBef>
              <a:spcAft>
                <a:spcPts val="0"/>
              </a:spcAft>
              <a:buClr>
                <a:schemeClr val="lt1"/>
              </a:buClr>
              <a:buSzPts val="1600"/>
              <a:buChar char="-"/>
            </a:pPr>
            <a:r>
              <a:rPr lang="nl" sz="1600">
                <a:solidFill>
                  <a:schemeClr val="lt1"/>
                </a:solidFill>
              </a:rPr>
              <a:t>Net foreign asset position (NFA/GDP)</a:t>
            </a:r>
            <a:endParaRPr sz="1600">
              <a:solidFill>
                <a:schemeClr val="lt1"/>
              </a:solidFill>
            </a:endParaRPr>
          </a:p>
          <a:p>
            <a:pPr indent="-330200" lvl="0" marL="457200" rtl="0" algn="l">
              <a:spcBef>
                <a:spcPts val="0"/>
              </a:spcBef>
              <a:spcAft>
                <a:spcPts val="0"/>
              </a:spcAft>
              <a:buClr>
                <a:schemeClr val="lt1"/>
              </a:buClr>
              <a:buSzPts val="1600"/>
              <a:buChar char="-"/>
            </a:pPr>
            <a:r>
              <a:rPr lang="nl" sz="1600">
                <a:solidFill>
                  <a:schemeClr val="lt1"/>
                </a:solidFill>
              </a:rPr>
              <a:t>Current account balance</a:t>
            </a:r>
            <a:endParaRPr sz="1600">
              <a:solidFill>
                <a:schemeClr val="lt1"/>
              </a:solidFill>
            </a:endParaRPr>
          </a:p>
          <a:p>
            <a:pPr indent="-330200" lvl="0" marL="457200" rtl="0" algn="l">
              <a:spcBef>
                <a:spcPts val="0"/>
              </a:spcBef>
              <a:spcAft>
                <a:spcPts val="0"/>
              </a:spcAft>
              <a:buClr>
                <a:schemeClr val="lt1"/>
              </a:buClr>
              <a:buSzPts val="1600"/>
              <a:buChar char="-"/>
            </a:pPr>
            <a:r>
              <a:rPr lang="nl" sz="1600">
                <a:solidFill>
                  <a:schemeClr val="lt1"/>
                </a:solidFill>
              </a:rPr>
              <a:t>External liabilities </a:t>
            </a:r>
            <a:endParaRPr sz="16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b="1" sz="1400">
              <a:solidFill>
                <a:schemeClr val="lt1"/>
              </a:solidFill>
            </a:endParaRPr>
          </a:p>
        </p:txBody>
      </p:sp>
      <p:sp>
        <p:nvSpPr>
          <p:cNvPr id="100" name="Google Shape;100;p15"/>
          <p:cNvSpPr txBox="1"/>
          <p:nvPr>
            <p:ph idx="1" type="body"/>
          </p:nvPr>
        </p:nvSpPr>
        <p:spPr>
          <a:xfrm>
            <a:off x="4704424" y="1123950"/>
            <a:ext cx="3959100" cy="334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sz="1400">
                <a:solidFill>
                  <a:schemeClr val="lt1"/>
                </a:solidFill>
              </a:rPr>
              <a:t>Crisis prediction framework</a:t>
            </a:r>
            <a:endParaRPr b="1" sz="1400">
              <a:solidFill>
                <a:schemeClr val="lt1"/>
              </a:solidFill>
            </a:endParaRPr>
          </a:p>
          <a:p>
            <a:pPr indent="0" lvl="0" marL="0" rtl="0" algn="l">
              <a:spcBef>
                <a:spcPts val="0"/>
              </a:spcBef>
              <a:spcAft>
                <a:spcPts val="0"/>
              </a:spcAft>
              <a:buNone/>
            </a:pPr>
            <a:r>
              <a:rPr lang="nl" sz="1400">
                <a:solidFill>
                  <a:schemeClr val="lt1"/>
                </a:solidFill>
              </a:rPr>
              <a:t>Crises are defined as defaults, rescheduling events or events associated with loans twice the size of a country’s IMF quota. </a:t>
            </a:r>
            <a:endParaRPr sz="1400">
              <a:solidFill>
                <a:schemeClr val="lt1"/>
              </a:solidFill>
            </a:endParaRPr>
          </a:p>
          <a:p>
            <a:pPr indent="0" lvl="0" marL="0" rtl="0" algn="l">
              <a:spcBef>
                <a:spcPts val="0"/>
              </a:spcBef>
              <a:spcAft>
                <a:spcPts val="0"/>
              </a:spcAft>
              <a:buNone/>
            </a:pPr>
            <a:r>
              <a:t/>
            </a:r>
            <a:endParaRPr sz="1400">
              <a:solidFill>
                <a:schemeClr val="lt1"/>
              </a:solidFill>
            </a:endParaRPr>
          </a:p>
          <a:p>
            <a:pPr indent="0" lvl="0" marL="0" rtl="0" algn="l">
              <a:spcBef>
                <a:spcPts val="0"/>
              </a:spcBef>
              <a:spcAft>
                <a:spcPts val="0"/>
              </a:spcAft>
              <a:buNone/>
            </a:pPr>
            <a:r>
              <a:rPr lang="nl" sz="1400">
                <a:solidFill>
                  <a:schemeClr val="lt1"/>
                </a:solidFill>
              </a:rPr>
              <a:t>While previous literature opted for broader definitions and in turn larger samples, stricter qualification ensures estimates are less biased by feedback effects as noted by Bussière &amp; Fratzscher (2006) and events are more comparable. </a:t>
            </a:r>
            <a:endParaRPr sz="1400">
              <a:solidFill>
                <a:schemeClr val="lt1"/>
              </a:solidFill>
            </a:endParaRPr>
          </a:p>
          <a:p>
            <a:pPr indent="0" lvl="0" marL="0" rtl="0" algn="l">
              <a:spcBef>
                <a:spcPts val="0"/>
              </a:spcBef>
              <a:spcAft>
                <a:spcPts val="0"/>
              </a:spcAft>
              <a:buNone/>
            </a:pPr>
            <a:r>
              <a:t/>
            </a:r>
            <a:endParaRPr sz="1400">
              <a:solidFill>
                <a:schemeClr val="lt1"/>
              </a:solidFill>
            </a:endParaRPr>
          </a:p>
          <a:p>
            <a:pPr indent="0" lvl="0" marL="0" rtl="0" algn="l">
              <a:spcBef>
                <a:spcPts val="0"/>
              </a:spcBef>
              <a:spcAft>
                <a:spcPts val="0"/>
              </a:spcAft>
              <a:buNone/>
            </a:pPr>
            <a:r>
              <a:t/>
            </a:r>
            <a:endParaRPr sz="1400">
              <a:solidFill>
                <a:schemeClr val="lt1"/>
              </a:solidFill>
            </a:endParaRPr>
          </a:p>
          <a:p>
            <a:pPr indent="0" lvl="0" marL="0" rtl="0" algn="l">
              <a:spcBef>
                <a:spcPts val="0"/>
              </a:spcBef>
              <a:spcAft>
                <a:spcPts val="0"/>
              </a:spcAft>
              <a:buClr>
                <a:schemeClr val="hlink"/>
              </a:buClr>
              <a:buSzPts val="1100"/>
              <a:buFont typeface="Arial"/>
              <a:buNone/>
            </a:pPr>
            <a:r>
              <a:t/>
            </a:r>
            <a:endParaRPr sz="14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b="1" sz="1400">
              <a:solidFill>
                <a:schemeClr val="lt1"/>
              </a:solidFill>
            </a:endParaRPr>
          </a:p>
        </p:txBody>
      </p:sp>
      <p:cxnSp>
        <p:nvCxnSpPr>
          <p:cNvPr id="101" name="Google Shape;101;p15"/>
          <p:cNvCxnSpPr/>
          <p:nvPr/>
        </p:nvCxnSpPr>
        <p:spPr>
          <a:xfrm>
            <a:off x="4426325" y="753750"/>
            <a:ext cx="24300" cy="37836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5" name="Shape 105"/>
        <p:cNvGrpSpPr/>
        <p:nvPr/>
      </p:nvGrpSpPr>
      <p:grpSpPr>
        <a:xfrm>
          <a:off x="0" y="0"/>
          <a:ext cx="0" cy="0"/>
          <a:chOff x="0" y="0"/>
          <a:chExt cx="0" cy="0"/>
        </a:xfrm>
      </p:grpSpPr>
      <p:sp>
        <p:nvSpPr>
          <p:cNvPr id="106" name="Google Shape;106;p16"/>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Methodology</a:t>
            </a:r>
            <a:endParaRPr b="1">
              <a:solidFill>
                <a:schemeClr val="lt1"/>
              </a:solidFill>
            </a:endParaRPr>
          </a:p>
        </p:txBody>
      </p:sp>
      <p:sp>
        <p:nvSpPr>
          <p:cNvPr id="107" name="Google Shape;107;p16"/>
          <p:cNvSpPr txBox="1"/>
          <p:nvPr>
            <p:ph idx="1" type="body"/>
          </p:nvPr>
        </p:nvSpPr>
        <p:spPr>
          <a:xfrm>
            <a:off x="491525" y="971550"/>
            <a:ext cx="8172000" cy="49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sz="1200">
                <a:solidFill>
                  <a:schemeClr val="lt1"/>
                </a:solidFill>
              </a:rPr>
              <a:t>Econometric Specification</a:t>
            </a:r>
            <a:endParaRPr b="1" sz="1200">
              <a:solidFill>
                <a:schemeClr val="lt1"/>
              </a:solidFill>
            </a:endParaRPr>
          </a:p>
          <a:p>
            <a:pPr indent="0" lvl="0" marL="0" rtl="0" algn="l">
              <a:spcBef>
                <a:spcPts val="0"/>
              </a:spcBef>
              <a:spcAft>
                <a:spcPts val="0"/>
              </a:spcAft>
              <a:buNone/>
            </a:pPr>
            <a:r>
              <a:rPr lang="nl" sz="1200">
                <a:solidFill>
                  <a:schemeClr val="lt1"/>
                </a:solidFill>
              </a:rPr>
              <a:t>The paper evaluates whether external balance sheet indicators help predict external financial crises using panel probit models. The probability that country </a:t>
            </a:r>
            <a:r>
              <a:rPr i="1" lang="nl" sz="1200">
                <a:solidFill>
                  <a:schemeClr val="lt1"/>
                </a:solidFill>
              </a:rPr>
              <a:t>i</a:t>
            </a:r>
            <a:r>
              <a:rPr lang="nl" sz="1200">
                <a:solidFill>
                  <a:schemeClr val="lt1"/>
                </a:solidFill>
              </a:rPr>
              <a:t> experiences an external crisis in year </a:t>
            </a:r>
            <a:r>
              <a:rPr i="1" lang="nl" sz="1200">
                <a:solidFill>
                  <a:schemeClr val="lt1"/>
                </a:solidFill>
              </a:rPr>
              <a:t>t</a:t>
            </a:r>
            <a:r>
              <a:rPr lang="nl" sz="1200">
                <a:solidFill>
                  <a:schemeClr val="lt1"/>
                </a:solidFill>
              </a:rPr>
              <a:t> is estimated using:</a:t>
            </a:r>
            <a:endParaRPr sz="1200">
              <a:solidFill>
                <a:schemeClr val="lt1"/>
              </a:solidFill>
            </a:endParaRPr>
          </a:p>
          <a:p>
            <a:pPr indent="0" lvl="0" marL="0" rtl="0" algn="l">
              <a:spcBef>
                <a:spcPts val="0"/>
              </a:spcBef>
              <a:spcAft>
                <a:spcPts val="0"/>
              </a:spcAft>
              <a:buNone/>
            </a:pPr>
            <a:r>
              <a:t/>
            </a:r>
            <a:endParaRPr sz="1400">
              <a:solidFill>
                <a:schemeClr val="lt1"/>
              </a:solidFill>
            </a:endParaRPr>
          </a:p>
          <a:p>
            <a:pPr indent="0" lvl="0" marL="91440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b="1" sz="1400">
              <a:solidFill>
                <a:schemeClr val="lt1"/>
              </a:solidFill>
            </a:endParaRPr>
          </a:p>
        </p:txBody>
      </p:sp>
      <p:pic>
        <p:nvPicPr>
          <p:cNvPr id="108" name="Google Shape;108;p16" title="Captura de pantalla 2026-03-16 a la(s) 1.20.03 a.m..png"/>
          <p:cNvPicPr preferRelativeResize="0"/>
          <p:nvPr/>
        </p:nvPicPr>
        <p:blipFill>
          <a:blip r:embed="rId3">
            <a:alphaModFix/>
          </a:blip>
          <a:stretch>
            <a:fillRect/>
          </a:stretch>
        </p:blipFill>
        <p:spPr>
          <a:xfrm>
            <a:off x="1740425" y="1692775"/>
            <a:ext cx="5674200" cy="301350"/>
          </a:xfrm>
          <a:prstGeom prst="rect">
            <a:avLst/>
          </a:prstGeom>
          <a:noFill/>
          <a:ln>
            <a:noFill/>
          </a:ln>
        </p:spPr>
      </p:pic>
      <p:sp>
        <p:nvSpPr>
          <p:cNvPr id="109" name="Google Shape;109;p16"/>
          <p:cNvSpPr txBox="1"/>
          <p:nvPr/>
        </p:nvSpPr>
        <p:spPr>
          <a:xfrm>
            <a:off x="491525" y="1994125"/>
            <a:ext cx="4095600" cy="27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nl" sz="1100">
                <a:solidFill>
                  <a:schemeClr val="lt1"/>
                </a:solidFill>
              </a:rPr>
              <a:t>Where:</a:t>
            </a:r>
            <a:endParaRPr sz="1100">
              <a:solidFill>
                <a:schemeClr val="lt1"/>
              </a:solidFill>
            </a:endParaRPr>
          </a:p>
          <a:p>
            <a:pPr indent="-298450" lvl="0" marL="457200" rtl="0" algn="l">
              <a:spcBef>
                <a:spcPts val="0"/>
              </a:spcBef>
              <a:spcAft>
                <a:spcPts val="0"/>
              </a:spcAft>
              <a:buClr>
                <a:schemeClr val="lt1"/>
              </a:buClr>
              <a:buSzPts val="1100"/>
              <a:buChar char="-"/>
            </a:pPr>
            <a:r>
              <a:rPr lang="nl" sz="1100">
                <a:solidFill>
                  <a:schemeClr val="lt1"/>
                </a:solidFill>
              </a:rPr>
              <a:t>Φ(⋅) = cumulative normal distribution (probit model)</a:t>
            </a:r>
            <a:endParaRPr sz="1100">
              <a:solidFill>
                <a:schemeClr val="lt1"/>
              </a:solidFill>
            </a:endParaRPr>
          </a:p>
          <a:p>
            <a:pPr indent="-298450" lvl="0" marL="457200" rtl="0" algn="l">
              <a:spcBef>
                <a:spcPts val="0"/>
              </a:spcBef>
              <a:spcAft>
                <a:spcPts val="0"/>
              </a:spcAft>
              <a:buClr>
                <a:schemeClr val="lt1"/>
              </a:buClr>
              <a:buSzPts val="1100"/>
              <a:buChar char="-"/>
            </a:pPr>
            <a:r>
              <a:rPr lang="nl" sz="1100">
                <a:solidFill>
                  <a:schemeClr val="lt1"/>
                </a:solidFill>
              </a:rPr>
              <a:t>NFL</a:t>
            </a:r>
            <a:r>
              <a:rPr baseline="-25000" i="1" lang="nl" sz="1100">
                <a:solidFill>
                  <a:schemeClr val="lt1"/>
                </a:solidFill>
              </a:rPr>
              <a:t>it-1</a:t>
            </a:r>
            <a:r>
              <a:rPr i="1" lang="nl" sz="1100">
                <a:solidFill>
                  <a:schemeClr val="lt1"/>
                </a:solidFill>
              </a:rPr>
              <a:t> = </a:t>
            </a:r>
            <a:r>
              <a:rPr lang="nl" sz="1100">
                <a:solidFill>
                  <a:schemeClr val="lt1"/>
                </a:solidFill>
              </a:rPr>
              <a:t>net foreign liabilities (% of GDP)</a:t>
            </a:r>
            <a:endParaRPr sz="1100">
              <a:solidFill>
                <a:schemeClr val="lt1"/>
              </a:solidFill>
            </a:endParaRPr>
          </a:p>
          <a:p>
            <a:pPr indent="-298450" lvl="0" marL="457200" rtl="0" algn="l">
              <a:spcBef>
                <a:spcPts val="0"/>
              </a:spcBef>
              <a:spcAft>
                <a:spcPts val="0"/>
              </a:spcAft>
              <a:buClr>
                <a:schemeClr val="lt1"/>
              </a:buClr>
              <a:buSzPts val="1100"/>
              <a:buChar char="-"/>
            </a:pPr>
            <a:r>
              <a:rPr lang="nl" sz="1100">
                <a:solidFill>
                  <a:schemeClr val="lt1"/>
                </a:solidFill>
              </a:rPr>
              <a:t>CA</a:t>
            </a:r>
            <a:r>
              <a:rPr baseline="-25000" i="1" lang="nl" sz="1100">
                <a:solidFill>
                  <a:schemeClr val="lt1"/>
                </a:solidFill>
              </a:rPr>
              <a:t>it-1  </a:t>
            </a:r>
            <a:r>
              <a:rPr i="1" lang="nl" sz="1100">
                <a:solidFill>
                  <a:schemeClr val="lt1"/>
                </a:solidFill>
              </a:rPr>
              <a:t>= </a:t>
            </a:r>
            <a:r>
              <a:rPr lang="nl" sz="1100">
                <a:solidFill>
                  <a:schemeClr val="lt1"/>
                </a:solidFill>
              </a:rPr>
              <a:t>current account balance</a:t>
            </a:r>
            <a:endParaRPr sz="1100">
              <a:solidFill>
                <a:schemeClr val="lt1"/>
              </a:solidFill>
            </a:endParaRPr>
          </a:p>
          <a:p>
            <a:pPr indent="-298450" lvl="0" marL="457200" rtl="0" algn="l">
              <a:spcBef>
                <a:spcPts val="0"/>
              </a:spcBef>
              <a:spcAft>
                <a:spcPts val="0"/>
              </a:spcAft>
              <a:buClr>
                <a:schemeClr val="lt1"/>
              </a:buClr>
              <a:buSzPts val="1100"/>
              <a:buChar char="-"/>
            </a:pPr>
            <a:r>
              <a:rPr i="1" lang="nl" sz="1100">
                <a:solidFill>
                  <a:schemeClr val="lt1"/>
                </a:solidFill>
              </a:rPr>
              <a:t>RES</a:t>
            </a:r>
            <a:r>
              <a:rPr baseline="-25000" i="1" lang="nl" sz="1100">
                <a:solidFill>
                  <a:schemeClr val="lt1"/>
                </a:solidFill>
              </a:rPr>
              <a:t>it-1</a:t>
            </a:r>
            <a:r>
              <a:rPr i="1" lang="nl" sz="1100">
                <a:solidFill>
                  <a:schemeClr val="lt1"/>
                </a:solidFill>
              </a:rPr>
              <a:t>= </a:t>
            </a:r>
            <a:r>
              <a:rPr lang="nl" sz="1100">
                <a:solidFill>
                  <a:schemeClr val="lt1"/>
                </a:solidFill>
              </a:rPr>
              <a:t>foreign exchange reserves</a:t>
            </a:r>
            <a:endParaRPr sz="1100">
              <a:solidFill>
                <a:schemeClr val="lt1"/>
              </a:solidFill>
            </a:endParaRPr>
          </a:p>
          <a:p>
            <a:pPr indent="-298450" lvl="0" marL="457200" rtl="0" algn="l">
              <a:spcBef>
                <a:spcPts val="0"/>
              </a:spcBef>
              <a:spcAft>
                <a:spcPts val="0"/>
              </a:spcAft>
              <a:buClr>
                <a:schemeClr val="lt1"/>
              </a:buClr>
              <a:buSzPts val="1100"/>
              <a:buChar char="-"/>
            </a:pPr>
            <a:r>
              <a:rPr lang="nl" sz="1100">
                <a:solidFill>
                  <a:schemeClr val="lt1"/>
                </a:solidFill>
              </a:rPr>
              <a:t>X</a:t>
            </a:r>
            <a:r>
              <a:rPr baseline="-25000" i="1" lang="nl" sz="1100">
                <a:solidFill>
                  <a:schemeClr val="lt1"/>
                </a:solidFill>
              </a:rPr>
              <a:t>it-1</a:t>
            </a:r>
            <a:r>
              <a:rPr lang="nl" sz="1100">
                <a:solidFill>
                  <a:schemeClr val="lt1"/>
                </a:solidFill>
              </a:rPr>
              <a:t> = additional macroeconomic controls</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nl" sz="1100">
                <a:solidFill>
                  <a:schemeClr val="lt1"/>
                </a:solidFill>
              </a:rPr>
              <a:t>The model estimates the probability that country </a:t>
            </a:r>
            <a:r>
              <a:rPr i="1" lang="nl" sz="1100">
                <a:solidFill>
                  <a:schemeClr val="lt1"/>
                </a:solidFill>
              </a:rPr>
              <a:t>i </a:t>
            </a:r>
            <a:r>
              <a:rPr lang="nl" sz="1100">
                <a:solidFill>
                  <a:schemeClr val="lt1"/>
                </a:solidFill>
              </a:rPr>
              <a:t>experiences an external crisis in year </a:t>
            </a:r>
            <a:r>
              <a:rPr i="1" lang="nl" sz="1100">
                <a:solidFill>
                  <a:schemeClr val="lt1"/>
                </a:solidFill>
              </a:rPr>
              <a:t>t</a:t>
            </a:r>
            <a:r>
              <a:rPr lang="nl" sz="1100">
                <a:solidFill>
                  <a:schemeClr val="lt1"/>
                </a:solidFill>
              </a:rPr>
              <a:t>.</a:t>
            </a:r>
            <a:endParaRPr sz="1100">
              <a:solidFill>
                <a:schemeClr val="lt1"/>
              </a:solidFill>
            </a:endParaRPr>
          </a:p>
          <a:p>
            <a:pPr indent="0" lvl="0" marL="0" rtl="0" algn="l">
              <a:spcBef>
                <a:spcPts val="0"/>
              </a:spcBef>
              <a:spcAft>
                <a:spcPts val="0"/>
              </a:spcAft>
              <a:buNone/>
            </a:pPr>
            <a:r>
              <a:rPr lang="nl" sz="1100">
                <a:solidFill>
                  <a:schemeClr val="lt1"/>
                </a:solidFill>
              </a:rPr>
              <a:t>Variables are lagged one year to capture predictive relationships and reduce simultaneity bias.</a:t>
            </a:r>
            <a:endParaRPr sz="1100">
              <a:solidFill>
                <a:schemeClr val="lt1"/>
              </a:solidFill>
            </a:endParaRPr>
          </a:p>
          <a:p>
            <a:pPr indent="0" lvl="0" marL="0" rtl="0" algn="l">
              <a:spcBef>
                <a:spcPts val="0"/>
              </a:spcBef>
              <a:spcAft>
                <a:spcPts val="0"/>
              </a:spcAft>
              <a:buNone/>
            </a:pPr>
            <a:r>
              <a:rPr lang="nl" sz="1100">
                <a:solidFill>
                  <a:schemeClr val="lt1"/>
                </a:solidFill>
              </a:rPr>
              <a:t>The focus is on how external liabilities and their composition affect crisis risk.</a:t>
            </a:r>
            <a:endParaRPr sz="11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t/>
            </a:r>
            <a:endParaRPr sz="1800">
              <a:solidFill>
                <a:schemeClr val="dk1"/>
              </a:solidFill>
            </a:endParaRPr>
          </a:p>
        </p:txBody>
      </p:sp>
      <p:sp>
        <p:nvSpPr>
          <p:cNvPr id="110" name="Google Shape;110;p16"/>
          <p:cNvSpPr txBox="1"/>
          <p:nvPr/>
        </p:nvSpPr>
        <p:spPr>
          <a:xfrm>
            <a:off x="4505100" y="1994125"/>
            <a:ext cx="4638900" cy="28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nl" sz="1200">
                <a:solidFill>
                  <a:schemeClr val="lt1"/>
                </a:solidFill>
              </a:rPr>
              <a:t>Empirical Implementation</a:t>
            </a:r>
            <a:endParaRPr sz="1100">
              <a:solidFill>
                <a:schemeClr val="lt1"/>
              </a:solidFill>
            </a:endParaRPr>
          </a:p>
          <a:p>
            <a:pPr indent="-298450" lvl="0" marL="457200" rtl="0" algn="l">
              <a:lnSpc>
                <a:spcPct val="115000"/>
              </a:lnSpc>
              <a:spcBef>
                <a:spcPts val="1200"/>
              </a:spcBef>
              <a:spcAft>
                <a:spcPts val="0"/>
              </a:spcAft>
              <a:buClr>
                <a:schemeClr val="lt1"/>
              </a:buClr>
              <a:buSzPts val="1100"/>
              <a:buAutoNum type="arabicPeriod"/>
            </a:pPr>
            <a:r>
              <a:rPr lang="nl" sz="1100">
                <a:solidFill>
                  <a:schemeClr val="lt1"/>
                </a:solidFill>
              </a:rPr>
              <a:t>Threshold analysis</a:t>
            </a:r>
            <a:br>
              <a:rPr lang="nl" sz="1100">
                <a:solidFill>
                  <a:schemeClr val="lt1"/>
                </a:solidFill>
              </a:rPr>
            </a:br>
            <a:r>
              <a:rPr lang="nl" sz="1100">
                <a:solidFill>
                  <a:schemeClr val="lt1"/>
                </a:solidFill>
              </a:rPr>
              <a:t> Identify levels of net foreign liabilities associated with higher crisis risk.</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AutoNum type="arabicPeriod"/>
            </a:pPr>
            <a:r>
              <a:rPr lang="nl" sz="1100">
                <a:solidFill>
                  <a:schemeClr val="lt1"/>
                </a:solidFill>
              </a:rPr>
              <a:t>Probit crisis prediction models</a:t>
            </a:r>
            <a:br>
              <a:rPr lang="nl" sz="1100">
                <a:solidFill>
                  <a:schemeClr val="lt1"/>
                </a:solidFill>
              </a:rPr>
            </a:br>
            <a:r>
              <a:rPr lang="nl" sz="1100">
                <a:solidFill>
                  <a:schemeClr val="lt1"/>
                </a:solidFill>
              </a:rPr>
              <a:t> Estimate the marginal effect of external liabilities and macro variables on crisis probability.</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AutoNum type="arabicPeriod"/>
            </a:pPr>
            <a:r>
              <a:rPr lang="nl" sz="1100">
                <a:solidFill>
                  <a:schemeClr val="lt1"/>
                </a:solidFill>
              </a:rPr>
              <a:t>Model evaluation using ROC curves</a:t>
            </a:r>
            <a:br>
              <a:rPr lang="nl" sz="1100">
                <a:solidFill>
                  <a:schemeClr val="lt1"/>
                </a:solidFill>
              </a:rPr>
            </a:br>
            <a:r>
              <a:rPr lang="nl" sz="1100">
                <a:solidFill>
                  <a:schemeClr val="lt1"/>
                </a:solidFill>
              </a:rPr>
              <a:t> Assess predictive accuracy by comparing true crisis predictions vs false alarms.</a:t>
            </a:r>
            <a:endParaRPr sz="1100">
              <a:solidFill>
                <a:schemeClr val="lt1"/>
              </a:solidFill>
            </a:endParaRPr>
          </a:p>
          <a:p>
            <a:pPr indent="0" lvl="0" marL="0" rtl="0" algn="l">
              <a:lnSpc>
                <a:spcPct val="115000"/>
              </a:lnSpc>
              <a:spcBef>
                <a:spcPts val="1200"/>
              </a:spcBef>
              <a:spcAft>
                <a:spcPts val="0"/>
              </a:spcAft>
              <a:buClr>
                <a:schemeClr val="hlink"/>
              </a:buClr>
              <a:buSzPts val="1100"/>
              <a:buFont typeface="Arial"/>
              <a:buNone/>
            </a:pPr>
            <a:r>
              <a:t/>
            </a:r>
            <a:endParaRPr sz="1100">
              <a:solidFill>
                <a:schemeClr val="lt1"/>
              </a:solidFill>
            </a:endParaRPr>
          </a:p>
          <a:p>
            <a:pPr indent="0" lvl="0" marL="0" rtl="0" algn="l">
              <a:spcBef>
                <a:spcPts val="1200"/>
              </a:spcBef>
              <a:spcAft>
                <a:spcPts val="0"/>
              </a:spcAft>
              <a:buClr>
                <a:schemeClr val="hlink"/>
              </a:buClr>
              <a:buSzPts val="1100"/>
              <a:buFont typeface="Arial"/>
              <a:buNone/>
            </a:pPr>
            <a:r>
              <a:t/>
            </a:r>
            <a:endParaRPr b="1" sz="1200">
              <a:solidFill>
                <a:schemeClr val="lt1"/>
              </a:solidFill>
            </a:endParaRPr>
          </a:p>
          <a:p>
            <a:pPr indent="0" lvl="0" marL="0" rtl="0" algn="l">
              <a:spcBef>
                <a:spcPts val="0"/>
              </a:spcBef>
              <a:spcAft>
                <a:spcPts val="0"/>
              </a:spcAft>
              <a:buClr>
                <a:schemeClr val="hlink"/>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4" name="Shape 114"/>
        <p:cNvGrpSpPr/>
        <p:nvPr/>
      </p:nvGrpSpPr>
      <p:grpSpPr>
        <a:xfrm>
          <a:off x="0" y="0"/>
          <a:ext cx="0" cy="0"/>
          <a:chOff x="0" y="0"/>
          <a:chExt cx="0" cy="0"/>
        </a:xfrm>
      </p:grpSpPr>
      <p:sp>
        <p:nvSpPr>
          <p:cNvPr id="115" name="Google Shape;115;p17"/>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Main results - Threshold Identification</a:t>
            </a:r>
            <a:endParaRPr b="1">
              <a:solidFill>
                <a:schemeClr val="lt1"/>
              </a:solidFill>
            </a:endParaRPr>
          </a:p>
        </p:txBody>
      </p:sp>
      <p:sp>
        <p:nvSpPr>
          <p:cNvPr id="116" name="Google Shape;116;p17"/>
          <p:cNvSpPr txBox="1"/>
          <p:nvPr>
            <p:ph idx="1" type="body"/>
          </p:nvPr>
        </p:nvSpPr>
        <p:spPr>
          <a:xfrm>
            <a:off x="491525" y="971550"/>
            <a:ext cx="4080600" cy="4022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nl" sz="1100">
                <a:solidFill>
                  <a:schemeClr val="lt1"/>
                </a:solidFill>
              </a:rPr>
              <a:t>1. Large absolute external liabilities significantly increase crisis risk - Figure 3</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Variables of 5 years before and after crisis episodes are studied.</a:t>
            </a:r>
            <a:endParaRPr sz="1100">
              <a:solidFill>
                <a:schemeClr val="lt1"/>
              </a:solidFill>
            </a:endParaRPr>
          </a:p>
          <a:p>
            <a:pPr indent="0" lvl="0" marL="457200" rtl="0" algn="l">
              <a:lnSpc>
                <a:spcPct val="115000"/>
              </a:lnSpc>
              <a:spcBef>
                <a:spcPts val="1200"/>
              </a:spcBef>
              <a:spcAft>
                <a:spcPts val="0"/>
              </a:spcAft>
              <a:buNone/>
            </a:pPr>
            <a:r>
              <a:t/>
            </a:r>
            <a:endParaRPr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Prior to crises, </a:t>
            </a:r>
            <a:r>
              <a:rPr lang="nl" sz="1100">
                <a:solidFill>
                  <a:schemeClr val="lt1"/>
                </a:solidFill>
              </a:rPr>
              <a:t>Net Foreign </a:t>
            </a:r>
            <a:r>
              <a:rPr lang="nl" sz="1100">
                <a:solidFill>
                  <a:schemeClr val="lt1"/>
                </a:solidFill>
              </a:rPr>
              <a:t>Liabilities</a:t>
            </a:r>
            <a:r>
              <a:rPr lang="nl" sz="1100">
                <a:solidFill>
                  <a:schemeClr val="lt1"/>
                </a:solidFill>
              </a:rPr>
              <a:t> (NFL)  to GDP ratios are on average at about 50-60%.</a:t>
            </a:r>
            <a:endParaRPr sz="1100">
              <a:solidFill>
                <a:schemeClr val="lt1"/>
              </a:solidFill>
            </a:endParaRPr>
          </a:p>
          <a:p>
            <a:pPr indent="0" lvl="0" marL="457200" rtl="0" algn="l">
              <a:lnSpc>
                <a:spcPct val="115000"/>
              </a:lnSpc>
              <a:spcBef>
                <a:spcPts val="1200"/>
              </a:spcBef>
              <a:spcAft>
                <a:spcPts val="0"/>
              </a:spcAft>
              <a:buNone/>
            </a:pPr>
            <a:r>
              <a:t/>
            </a:r>
            <a:endParaRPr sz="1100">
              <a:solidFill>
                <a:schemeClr val="lt1"/>
              </a:solidFill>
            </a:endParaRPr>
          </a:p>
          <a:p>
            <a:pPr indent="-298450" lvl="0" marL="457200" rtl="0" algn="l">
              <a:spcBef>
                <a:spcPts val="1200"/>
              </a:spcBef>
              <a:spcAft>
                <a:spcPts val="0"/>
              </a:spcAft>
              <a:buClr>
                <a:schemeClr val="lt1"/>
              </a:buClr>
              <a:buSzPts val="1100"/>
              <a:buChar char="●"/>
            </a:pPr>
            <a:r>
              <a:rPr lang="nl" sz="1100">
                <a:solidFill>
                  <a:schemeClr val="lt1"/>
                </a:solidFill>
              </a:rPr>
              <a:t>Other variables show mixed behaviour, however years around crisis are associated with inflection points for indicators like current account balance and fiscal balance/GDP ratio.</a:t>
            </a:r>
            <a:endParaRPr sz="1100">
              <a:solidFill>
                <a:schemeClr val="lt1"/>
              </a:solidFill>
            </a:endParaRPr>
          </a:p>
          <a:p>
            <a:pPr indent="0" lvl="0" marL="457200" rtl="0" algn="l">
              <a:spcBef>
                <a:spcPts val="0"/>
              </a:spcBef>
              <a:spcAft>
                <a:spcPts val="0"/>
              </a:spcAft>
              <a:buNone/>
            </a:pPr>
            <a:r>
              <a:t/>
            </a:r>
            <a:endParaRPr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The relationship remains robust across different model specifications.</a:t>
            </a:r>
            <a:endParaRPr sz="1100">
              <a:solidFill>
                <a:schemeClr val="lt1"/>
              </a:solidFill>
            </a:endParaRPr>
          </a:p>
          <a:p>
            <a:pPr indent="0" lvl="0" marL="457200" rtl="0" algn="l">
              <a:lnSpc>
                <a:spcPct val="115000"/>
              </a:lnSpc>
              <a:spcBef>
                <a:spcPts val="1200"/>
              </a:spcBef>
              <a:spcAft>
                <a:spcPts val="0"/>
              </a:spcAft>
              <a:buNone/>
            </a:pPr>
            <a:r>
              <a:t/>
            </a:r>
            <a:endParaRPr sz="1100">
              <a:solidFill>
                <a:schemeClr val="lt1"/>
              </a:solidFill>
            </a:endParaRPr>
          </a:p>
          <a:p>
            <a:pPr indent="0" lvl="0" marL="0" rtl="0" algn="l">
              <a:lnSpc>
                <a:spcPct val="115000"/>
              </a:lnSpc>
              <a:spcBef>
                <a:spcPts val="1200"/>
              </a:spcBef>
              <a:spcAft>
                <a:spcPts val="0"/>
              </a:spcAft>
              <a:buClr>
                <a:schemeClr val="hlink"/>
              </a:buClr>
              <a:buSzPts val="1100"/>
              <a:buFont typeface="Arial"/>
              <a:buNone/>
            </a:pPr>
            <a:r>
              <a:t/>
            </a:r>
            <a:endParaRPr sz="1100">
              <a:solidFill>
                <a:schemeClr val="lt1"/>
              </a:solidFill>
            </a:endParaRPr>
          </a:p>
          <a:p>
            <a:pPr indent="0" lvl="0" marL="0" rtl="0" algn="l">
              <a:spcBef>
                <a:spcPts val="1200"/>
              </a:spcBef>
              <a:spcAft>
                <a:spcPts val="0"/>
              </a:spcAft>
              <a:buNone/>
            </a:pPr>
            <a:r>
              <a:t/>
            </a:r>
            <a:endParaRPr b="1" sz="1200">
              <a:solidFill>
                <a:schemeClr val="lt1"/>
              </a:solidFill>
            </a:endParaRPr>
          </a:p>
          <a:p>
            <a:pPr indent="0" lvl="0" marL="91440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b="1" sz="1400">
              <a:solidFill>
                <a:schemeClr val="lt1"/>
              </a:solidFill>
            </a:endParaRPr>
          </a:p>
        </p:txBody>
      </p:sp>
      <p:cxnSp>
        <p:nvCxnSpPr>
          <p:cNvPr id="117" name="Google Shape;117;p17"/>
          <p:cNvCxnSpPr/>
          <p:nvPr/>
        </p:nvCxnSpPr>
        <p:spPr>
          <a:xfrm>
            <a:off x="4585600" y="966100"/>
            <a:ext cx="13500" cy="3578700"/>
          </a:xfrm>
          <a:prstGeom prst="straightConnector1">
            <a:avLst/>
          </a:prstGeom>
          <a:noFill/>
          <a:ln cap="flat" cmpd="sng" w="9525">
            <a:solidFill>
              <a:schemeClr val="lt1"/>
            </a:solidFill>
            <a:prstDash val="solid"/>
            <a:round/>
            <a:headEnd len="med" w="med" type="none"/>
            <a:tailEnd len="med" w="med" type="none"/>
          </a:ln>
        </p:spPr>
      </p:cxnSp>
      <p:sp>
        <p:nvSpPr>
          <p:cNvPr id="118" name="Google Shape;118;p17"/>
          <p:cNvSpPr txBox="1"/>
          <p:nvPr>
            <p:ph idx="1" type="body"/>
          </p:nvPr>
        </p:nvSpPr>
        <p:spPr>
          <a:xfrm>
            <a:off x="4811300" y="971550"/>
            <a:ext cx="4080600" cy="4022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nl" sz="1100">
                <a:solidFill>
                  <a:schemeClr val="lt1"/>
                </a:solidFill>
              </a:rPr>
              <a:t>2. Changes in relative levels are also associated with increased crisis risk - Figure 4</a:t>
            </a:r>
            <a:endParaRPr b="1" sz="1100">
              <a:solidFill>
                <a:schemeClr val="lt1"/>
              </a:solidFill>
            </a:endParaRPr>
          </a:p>
          <a:p>
            <a:pPr indent="-298450" lvl="0" marL="457200" rtl="0" algn="l">
              <a:spcBef>
                <a:spcPts val="1200"/>
              </a:spcBef>
              <a:spcAft>
                <a:spcPts val="0"/>
              </a:spcAft>
              <a:buClr>
                <a:schemeClr val="lt1"/>
              </a:buClr>
              <a:buSzPts val="1100"/>
              <a:buChar char="●"/>
            </a:pPr>
            <a:r>
              <a:rPr lang="nl" sz="1100">
                <a:solidFill>
                  <a:schemeClr val="lt1"/>
                </a:solidFill>
              </a:rPr>
              <a:t>Treatment-effect regression is used to recover how changes in variables relative to country-specific and global mean. </a:t>
            </a:r>
            <a:endParaRPr sz="1100">
              <a:solidFill>
                <a:schemeClr val="lt1"/>
              </a:solidFill>
            </a:endParaRPr>
          </a:p>
          <a:p>
            <a:pPr indent="0" lvl="0" marL="457200" rtl="0" algn="l">
              <a:spcBef>
                <a:spcPts val="0"/>
              </a:spcBef>
              <a:spcAft>
                <a:spcPts val="0"/>
              </a:spcAft>
              <a:buNone/>
            </a:pPr>
            <a:r>
              <a:t/>
            </a:r>
            <a:endParaRPr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Increase in NFL of 15-20% relative to mean values see increased crisis risk.</a:t>
            </a:r>
            <a:endParaRPr sz="1100">
              <a:solidFill>
                <a:schemeClr val="lt1"/>
              </a:solidFill>
            </a:endParaRPr>
          </a:p>
          <a:p>
            <a:pPr indent="0" lvl="0" marL="0" rtl="0" algn="l">
              <a:lnSpc>
                <a:spcPct val="115000"/>
              </a:lnSpc>
              <a:spcBef>
                <a:spcPts val="1200"/>
              </a:spcBef>
              <a:spcAft>
                <a:spcPts val="0"/>
              </a:spcAft>
              <a:buNone/>
            </a:pPr>
            <a:r>
              <a:t/>
            </a:r>
            <a:endParaRPr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Reductions in CA and FX positions </a:t>
            </a:r>
            <a:r>
              <a:rPr lang="nl" sz="1100">
                <a:solidFill>
                  <a:schemeClr val="lt1"/>
                </a:solidFill>
              </a:rPr>
              <a:t>relative</a:t>
            </a:r>
            <a:r>
              <a:rPr lang="nl" sz="1100">
                <a:solidFill>
                  <a:schemeClr val="lt1"/>
                </a:solidFill>
              </a:rPr>
              <a:t> to mean </a:t>
            </a:r>
            <a:r>
              <a:rPr lang="nl" sz="1100">
                <a:solidFill>
                  <a:schemeClr val="lt1"/>
                </a:solidFill>
              </a:rPr>
              <a:t>precede</a:t>
            </a:r>
            <a:r>
              <a:rPr lang="nl" sz="1100">
                <a:solidFill>
                  <a:schemeClr val="lt1"/>
                </a:solidFill>
              </a:rPr>
              <a:t> crises. Other variables like relative fiscal deficit &amp; global market volatility are also indicative.</a:t>
            </a:r>
            <a:endParaRPr sz="1100">
              <a:solidFill>
                <a:schemeClr val="lt1"/>
              </a:solidFill>
            </a:endParaRPr>
          </a:p>
          <a:p>
            <a:pPr indent="0" lvl="0" marL="0" rtl="0" algn="l">
              <a:lnSpc>
                <a:spcPct val="115000"/>
              </a:lnSpc>
              <a:spcBef>
                <a:spcPts val="1200"/>
              </a:spcBef>
              <a:spcAft>
                <a:spcPts val="0"/>
              </a:spcAft>
              <a:buClr>
                <a:schemeClr val="hlink"/>
              </a:buClr>
              <a:buSzPts val="1100"/>
              <a:buFont typeface="Arial"/>
              <a:buNone/>
            </a:pPr>
            <a:r>
              <a:t/>
            </a:r>
            <a:endParaRPr sz="1100">
              <a:solidFill>
                <a:schemeClr val="lt1"/>
              </a:solidFill>
            </a:endParaRPr>
          </a:p>
          <a:p>
            <a:pPr indent="0" lvl="0" marL="0" rtl="0" algn="l">
              <a:spcBef>
                <a:spcPts val="1200"/>
              </a:spcBef>
              <a:spcAft>
                <a:spcPts val="0"/>
              </a:spcAft>
              <a:buNone/>
            </a:pPr>
            <a:r>
              <a:t/>
            </a:r>
            <a:endParaRPr b="1" sz="1200">
              <a:solidFill>
                <a:schemeClr val="lt1"/>
              </a:solidFill>
            </a:endParaRPr>
          </a:p>
          <a:p>
            <a:pPr indent="0" lvl="0" marL="91440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b="1" sz="14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2" name="Shape 122"/>
        <p:cNvGrpSpPr/>
        <p:nvPr/>
      </p:nvGrpSpPr>
      <p:grpSpPr>
        <a:xfrm>
          <a:off x="0" y="0"/>
          <a:ext cx="0" cy="0"/>
          <a:chOff x="0" y="0"/>
          <a:chExt cx="0" cy="0"/>
        </a:xfrm>
      </p:grpSpPr>
      <p:sp>
        <p:nvSpPr>
          <p:cNvPr id="123" name="Google Shape;123;p18"/>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Main results - Role of Balance Composition</a:t>
            </a:r>
            <a:endParaRPr b="1">
              <a:solidFill>
                <a:schemeClr val="lt1"/>
              </a:solidFill>
            </a:endParaRPr>
          </a:p>
        </p:txBody>
      </p:sp>
      <p:cxnSp>
        <p:nvCxnSpPr>
          <p:cNvPr id="124" name="Google Shape;124;p18"/>
          <p:cNvCxnSpPr/>
          <p:nvPr/>
        </p:nvCxnSpPr>
        <p:spPr>
          <a:xfrm>
            <a:off x="4585600" y="966100"/>
            <a:ext cx="13500" cy="3578700"/>
          </a:xfrm>
          <a:prstGeom prst="straightConnector1">
            <a:avLst/>
          </a:prstGeom>
          <a:noFill/>
          <a:ln cap="flat" cmpd="sng" w="9525">
            <a:solidFill>
              <a:schemeClr val="lt1"/>
            </a:solidFill>
            <a:prstDash val="solid"/>
            <a:round/>
            <a:headEnd len="med" w="med" type="none"/>
            <a:tailEnd len="med" w="med" type="none"/>
          </a:ln>
        </p:spPr>
      </p:cxnSp>
      <p:sp>
        <p:nvSpPr>
          <p:cNvPr id="125" name="Google Shape;125;p18"/>
          <p:cNvSpPr txBox="1"/>
          <p:nvPr/>
        </p:nvSpPr>
        <p:spPr>
          <a:xfrm>
            <a:off x="300850" y="875725"/>
            <a:ext cx="3965700" cy="3959700"/>
          </a:xfrm>
          <a:prstGeom prst="rect">
            <a:avLst/>
          </a:prstGeom>
          <a:noFill/>
          <a:ln>
            <a:noFill/>
          </a:ln>
        </p:spPr>
        <p:txBody>
          <a:bodyPr anchorCtr="0" anchor="t" bIns="91425" lIns="91425" spcFirstLastPara="1" rIns="91425" wrap="square" tIns="91425">
            <a:noAutofit/>
          </a:bodyPr>
          <a:lstStyle/>
          <a:p>
            <a:pPr indent="-298450" lvl="0" marL="457200" rtl="0" algn="l">
              <a:lnSpc>
                <a:spcPct val="127777"/>
              </a:lnSpc>
              <a:spcBef>
                <a:spcPts val="0"/>
              </a:spcBef>
              <a:spcAft>
                <a:spcPts val="0"/>
              </a:spcAft>
              <a:buClr>
                <a:schemeClr val="lt1"/>
              </a:buClr>
              <a:buSzPts val="1100"/>
              <a:buChar char="●"/>
            </a:pPr>
            <a:r>
              <a:rPr lang="nl" sz="1100">
                <a:solidFill>
                  <a:schemeClr val="lt1"/>
                </a:solidFill>
              </a:rPr>
              <a:t>Estimate the effects of explanatory variables and model performance by observing 1) marginal contributions to ROC scores, 2) elasticity estimates and 3) signal to noise ratios.</a:t>
            </a:r>
            <a:endParaRPr sz="1100">
              <a:solidFill>
                <a:schemeClr val="lt1"/>
              </a:solidFill>
            </a:endParaRPr>
          </a:p>
          <a:p>
            <a:pPr indent="0" lvl="0" marL="45720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Bivariate model with lagged NFA/GDP scores better than multivariate specification used by Schularik &amp; Taylor (2012).</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CA/GDP ratio, REER gap and VIX improves ROC scores further.</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Once properly controlled and low probability of crisis situations are excluded, better FX  positions are found to mitigate crisis risks for given levels of NFA/GDP, while larger CA deficits contribute to increased crisis probability. </a:t>
            </a:r>
            <a:endParaRPr sz="1100">
              <a:solidFill>
                <a:schemeClr val="lt1"/>
              </a:solidFill>
            </a:endParaRPr>
          </a:p>
          <a:p>
            <a:pPr indent="0" lvl="0" marL="457200" rtl="0" algn="l">
              <a:lnSpc>
                <a:spcPct val="127777"/>
              </a:lnSpc>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800">
              <a:solidFill>
                <a:schemeClr val="dk1"/>
              </a:solidFill>
            </a:endParaRPr>
          </a:p>
        </p:txBody>
      </p:sp>
      <p:sp>
        <p:nvSpPr>
          <p:cNvPr id="126" name="Google Shape;126;p18"/>
          <p:cNvSpPr txBox="1"/>
          <p:nvPr/>
        </p:nvSpPr>
        <p:spPr>
          <a:xfrm>
            <a:off x="4833775" y="875725"/>
            <a:ext cx="4050000" cy="4056000"/>
          </a:xfrm>
          <a:prstGeom prst="rect">
            <a:avLst/>
          </a:prstGeom>
          <a:noFill/>
          <a:ln>
            <a:noFill/>
          </a:ln>
        </p:spPr>
        <p:txBody>
          <a:bodyPr anchorCtr="0" anchor="t" bIns="91425" lIns="91425" spcFirstLastPara="1" rIns="91425" wrap="square" tIns="91425">
            <a:noAutofit/>
          </a:bodyPr>
          <a:lstStyle/>
          <a:p>
            <a:pPr indent="-298450" lvl="0" marL="457200" rtl="0" algn="l">
              <a:lnSpc>
                <a:spcPct val="127777"/>
              </a:lnSpc>
              <a:spcBef>
                <a:spcPts val="0"/>
              </a:spcBef>
              <a:spcAft>
                <a:spcPts val="0"/>
              </a:spcAft>
              <a:buClr>
                <a:schemeClr val="lt1"/>
              </a:buClr>
              <a:buSzPts val="1100"/>
              <a:buChar char="●"/>
            </a:pPr>
            <a:r>
              <a:rPr lang="nl" sz="1100">
                <a:solidFill>
                  <a:schemeClr val="lt1"/>
                </a:solidFill>
              </a:rPr>
              <a:t>Negative sign for FDI liabilities is explained by strong economic performances attracting larger inflows.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Elasticity estimates of standard deviation changes support findings of treatment-effect regression - changes in net external debt and current account add to crisis risks, while FX accumulation decreases it. </a:t>
            </a:r>
            <a:endParaRPr sz="1100">
              <a:solidFill>
                <a:schemeClr val="lt1"/>
              </a:solidFill>
            </a:endParaRPr>
          </a:p>
          <a:p>
            <a:pPr indent="0" lvl="0" marL="45720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A cut-off of around 50%, lag NFL/GDP is found to maximize the signal-to-noise ratio of the </a:t>
            </a:r>
            <a:r>
              <a:rPr lang="nl" sz="1100">
                <a:solidFill>
                  <a:schemeClr val="lt1"/>
                </a:solidFill>
              </a:rPr>
              <a:t>prediction</a:t>
            </a:r>
            <a:r>
              <a:rPr lang="nl" sz="1100">
                <a:solidFill>
                  <a:schemeClr val="lt1"/>
                </a:solidFill>
              </a:rPr>
              <a:t> model, supporting prior threshold estimates.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Main results - Model Prediction &amp; Robustness</a:t>
            </a:r>
            <a:endParaRPr b="1">
              <a:solidFill>
                <a:schemeClr val="lt1"/>
              </a:solidFill>
            </a:endParaRPr>
          </a:p>
        </p:txBody>
      </p:sp>
      <p:cxnSp>
        <p:nvCxnSpPr>
          <p:cNvPr id="132" name="Google Shape;132;p19"/>
          <p:cNvCxnSpPr/>
          <p:nvPr/>
        </p:nvCxnSpPr>
        <p:spPr>
          <a:xfrm>
            <a:off x="4585600" y="966100"/>
            <a:ext cx="13500" cy="3578700"/>
          </a:xfrm>
          <a:prstGeom prst="straightConnector1">
            <a:avLst/>
          </a:prstGeom>
          <a:noFill/>
          <a:ln cap="flat" cmpd="sng" w="9525">
            <a:solidFill>
              <a:schemeClr val="lt1"/>
            </a:solidFill>
            <a:prstDash val="solid"/>
            <a:round/>
            <a:headEnd len="med" w="med" type="none"/>
            <a:tailEnd len="med" w="med" type="none"/>
          </a:ln>
        </p:spPr>
      </p:cxnSp>
      <p:sp>
        <p:nvSpPr>
          <p:cNvPr id="133" name="Google Shape;133;p19"/>
          <p:cNvSpPr txBox="1"/>
          <p:nvPr/>
        </p:nvSpPr>
        <p:spPr>
          <a:xfrm>
            <a:off x="300850" y="875725"/>
            <a:ext cx="3965700" cy="3959700"/>
          </a:xfrm>
          <a:prstGeom prst="rect">
            <a:avLst/>
          </a:prstGeom>
          <a:noFill/>
          <a:ln>
            <a:noFill/>
          </a:ln>
        </p:spPr>
        <p:txBody>
          <a:bodyPr anchorCtr="0" anchor="t" bIns="91425" lIns="91425" spcFirstLastPara="1" rIns="91425" wrap="square" tIns="91425">
            <a:noAutofit/>
          </a:bodyPr>
          <a:lstStyle/>
          <a:p>
            <a:pPr indent="-298450" lvl="0" marL="457200" rtl="0" algn="l">
              <a:lnSpc>
                <a:spcPct val="127777"/>
              </a:lnSpc>
              <a:spcBef>
                <a:spcPts val="0"/>
              </a:spcBef>
              <a:spcAft>
                <a:spcPts val="0"/>
              </a:spcAft>
              <a:buClr>
                <a:schemeClr val="lt1"/>
              </a:buClr>
              <a:buSzPts val="1100"/>
              <a:buChar char="●"/>
            </a:pPr>
            <a:r>
              <a:rPr lang="nl" sz="1100">
                <a:solidFill>
                  <a:schemeClr val="lt1"/>
                </a:solidFill>
              </a:rPr>
              <a:t>Adding current account gap and government debt to GDP have little effect on the model as a whole as they share high collinearity with other variables already included.</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Results are robust to different crisis definitions - broader definition yields similar significances. </a:t>
            </a:r>
            <a:endParaRPr sz="1100">
              <a:solidFill>
                <a:schemeClr val="lt1"/>
              </a:solidFill>
            </a:endParaRPr>
          </a:p>
          <a:p>
            <a:pPr indent="0" lvl="0" marL="0" rtl="0" algn="l">
              <a:lnSpc>
                <a:spcPct val="127777"/>
              </a:lnSpc>
              <a:spcBef>
                <a:spcPts val="0"/>
              </a:spcBef>
              <a:spcAft>
                <a:spcPts val="0"/>
              </a:spcAft>
              <a:buNone/>
            </a:pPr>
            <a:r>
              <a:t/>
            </a:r>
            <a:endParaRPr sz="18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Stricter definition (as per Gourinchas &amp; Obstfeld (2012)) makes FDI and CA less significant, while debts &amp; reserves are more important (as found in past literature), as broader definition encompasses more developing countries who are sensitive to debt increases and reserve drainages.</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457200" rtl="0" algn="l">
              <a:lnSpc>
                <a:spcPct val="127777"/>
              </a:lnSpc>
              <a:spcBef>
                <a:spcPts val="0"/>
              </a:spcBef>
              <a:spcAft>
                <a:spcPts val="0"/>
              </a:spcAft>
              <a:buNone/>
            </a:pPr>
            <a:r>
              <a:t/>
            </a:r>
            <a:endParaRPr sz="1100">
              <a:solidFill>
                <a:schemeClr val="lt1"/>
              </a:solidFill>
            </a:endParaRPr>
          </a:p>
          <a:p>
            <a:pPr indent="0" lvl="0" marL="457200" rtl="0" algn="l">
              <a:lnSpc>
                <a:spcPct val="127777"/>
              </a:lnSpc>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800">
              <a:solidFill>
                <a:schemeClr val="dk1"/>
              </a:solidFill>
            </a:endParaRPr>
          </a:p>
        </p:txBody>
      </p:sp>
      <p:sp>
        <p:nvSpPr>
          <p:cNvPr id="134" name="Google Shape;134;p19"/>
          <p:cNvSpPr txBox="1"/>
          <p:nvPr/>
        </p:nvSpPr>
        <p:spPr>
          <a:xfrm>
            <a:off x="4833775" y="875725"/>
            <a:ext cx="4050000" cy="4056000"/>
          </a:xfrm>
          <a:prstGeom prst="rect">
            <a:avLst/>
          </a:prstGeom>
          <a:noFill/>
          <a:ln>
            <a:noFill/>
          </a:ln>
        </p:spPr>
        <p:txBody>
          <a:bodyPr anchorCtr="0" anchor="t" bIns="91425" lIns="91425" spcFirstLastPara="1" rIns="91425" wrap="square" tIns="91425">
            <a:noAutofit/>
          </a:bodyPr>
          <a:lstStyle/>
          <a:p>
            <a:pPr indent="-298450" lvl="0" marL="457200" rtl="0" algn="l">
              <a:lnSpc>
                <a:spcPct val="127777"/>
              </a:lnSpc>
              <a:spcBef>
                <a:spcPts val="0"/>
              </a:spcBef>
              <a:spcAft>
                <a:spcPts val="0"/>
              </a:spcAft>
              <a:buClr>
                <a:schemeClr val="lt1"/>
              </a:buClr>
              <a:buSzPts val="1100"/>
              <a:buChar char="●"/>
            </a:pPr>
            <a:r>
              <a:rPr lang="nl" sz="1100">
                <a:solidFill>
                  <a:schemeClr val="lt1"/>
                </a:solidFill>
              </a:rPr>
              <a:t>Within-sample performance of conservative prediction (20% probability of crisis) has better classification score, however lower threshold of 11% leads to less false alarms. </a:t>
            </a:r>
            <a:endParaRPr sz="1100">
              <a:solidFill>
                <a:schemeClr val="lt1"/>
              </a:solidFill>
            </a:endParaRPr>
          </a:p>
          <a:p>
            <a:pPr indent="0" lvl="0" marL="457200" rtl="0" algn="l">
              <a:lnSpc>
                <a:spcPct val="127777"/>
              </a:lnSpc>
              <a:spcBef>
                <a:spcPts val="0"/>
              </a:spcBef>
              <a:spcAft>
                <a:spcPts val="0"/>
              </a:spcAft>
              <a:buNone/>
            </a:pPr>
            <a:r>
              <a:t/>
            </a:r>
            <a:endParaRPr sz="11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Parsimonious model yields better results than Frankel &amp; Rose (1996) and Berg &amp; Pattillo (1996) and is balanced across regions. </a:t>
            </a:r>
            <a:endParaRPr sz="1100">
              <a:solidFill>
                <a:schemeClr val="lt1"/>
              </a:solidFill>
            </a:endParaRPr>
          </a:p>
          <a:p>
            <a:pPr indent="0" lvl="0" marL="0" rtl="0" algn="l">
              <a:lnSpc>
                <a:spcPct val="127777"/>
              </a:lnSpc>
              <a:spcBef>
                <a:spcPts val="0"/>
              </a:spcBef>
              <a:spcAft>
                <a:spcPts val="0"/>
              </a:spcAft>
              <a:buNone/>
            </a:pPr>
            <a:r>
              <a:t/>
            </a:r>
            <a:endParaRPr sz="1800">
              <a:solidFill>
                <a:schemeClr val="lt1"/>
              </a:solidFill>
            </a:endParaRPr>
          </a:p>
          <a:p>
            <a:pPr indent="-298450" lvl="0" marL="457200" rtl="0" algn="l">
              <a:lnSpc>
                <a:spcPct val="127777"/>
              </a:lnSpc>
              <a:spcBef>
                <a:spcPts val="0"/>
              </a:spcBef>
              <a:spcAft>
                <a:spcPts val="0"/>
              </a:spcAft>
              <a:buClr>
                <a:schemeClr val="lt1"/>
              </a:buClr>
              <a:buSzPts val="1100"/>
              <a:buChar char="●"/>
            </a:pPr>
            <a:r>
              <a:rPr lang="nl" sz="1100">
                <a:solidFill>
                  <a:schemeClr val="lt1"/>
                </a:solidFill>
              </a:rPr>
              <a:t>Out-of-sample prediction with conservative threshold misses crises in Ecuador, Hungary and Ukraine, and gives false alarm for Lithuania.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lnSpc>
                <a:spcPct val="127777"/>
              </a:lnSpc>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8" name="Shape 138"/>
        <p:cNvGrpSpPr/>
        <p:nvPr/>
      </p:nvGrpSpPr>
      <p:grpSpPr>
        <a:xfrm>
          <a:off x="0" y="0"/>
          <a:ext cx="0" cy="0"/>
          <a:chOff x="0" y="0"/>
          <a:chExt cx="0" cy="0"/>
        </a:xfrm>
      </p:grpSpPr>
      <p:sp>
        <p:nvSpPr>
          <p:cNvPr id="139" name="Google Shape;139;p20"/>
          <p:cNvSpPr txBox="1"/>
          <p:nvPr>
            <p:ph type="title"/>
          </p:nvPr>
        </p:nvSpPr>
        <p:spPr>
          <a:xfrm>
            <a:off x="491525" y="39600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Closing Remarks</a:t>
            </a:r>
            <a:endParaRPr b="1">
              <a:solidFill>
                <a:schemeClr val="lt1"/>
              </a:solidFill>
            </a:endParaRPr>
          </a:p>
        </p:txBody>
      </p:sp>
      <p:sp>
        <p:nvSpPr>
          <p:cNvPr id="140" name="Google Shape;140;p20"/>
          <p:cNvSpPr txBox="1"/>
          <p:nvPr>
            <p:ph idx="1" type="body"/>
          </p:nvPr>
        </p:nvSpPr>
        <p:spPr>
          <a:xfrm>
            <a:off x="491525" y="971550"/>
            <a:ext cx="4080600" cy="40224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nl" sz="1700">
                <a:solidFill>
                  <a:schemeClr val="lt1"/>
                </a:solidFill>
              </a:rPr>
              <a:t>Contribution</a:t>
            </a:r>
            <a:endParaRPr b="1" sz="17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Provides new empirical evidence on the relationship between external balance sheets and external financial crises.</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nl" sz="1100">
                <a:solidFill>
                  <a:schemeClr val="lt1"/>
                </a:solidFill>
              </a:rPr>
              <a:t>Moves beyond traditional indicators such as current account deficits, focusing instead on net foreign asset positions and liability composition.</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nl" sz="1100">
                <a:solidFill>
                  <a:schemeClr val="lt1"/>
                </a:solidFill>
              </a:rPr>
              <a:t>Identifies threshold effects, showing that large external liabilities sharply increase crisis probability</a:t>
            </a:r>
            <a:r>
              <a:rPr lang="nl" sz="1100">
                <a:solidFill>
                  <a:schemeClr val="lt1"/>
                </a:solidFill>
              </a:rPr>
              <a:t>.</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nl" sz="1100">
                <a:solidFill>
                  <a:schemeClr val="lt1"/>
                </a:solidFill>
              </a:rPr>
              <a:t>Demonstrates that external balance sheet indicators significantly improve crisis prediction models.</a:t>
            </a:r>
            <a:endParaRPr sz="1100">
              <a:solidFill>
                <a:schemeClr val="lt1"/>
              </a:solidFill>
            </a:endParaRPr>
          </a:p>
          <a:p>
            <a:pPr indent="0" lvl="0" marL="0" rtl="0" algn="l">
              <a:lnSpc>
                <a:spcPct val="115000"/>
              </a:lnSpc>
              <a:spcBef>
                <a:spcPts val="1200"/>
              </a:spcBef>
              <a:spcAft>
                <a:spcPts val="0"/>
              </a:spcAft>
              <a:buNone/>
            </a:pPr>
            <a:r>
              <a:t/>
            </a:r>
            <a:endParaRPr sz="1100">
              <a:solidFill>
                <a:schemeClr val="lt1"/>
              </a:solidFill>
            </a:endParaRPr>
          </a:p>
          <a:p>
            <a:pPr indent="0" lvl="0" marL="0" rtl="0" algn="l">
              <a:spcBef>
                <a:spcPts val="1200"/>
              </a:spcBef>
              <a:spcAft>
                <a:spcPts val="0"/>
              </a:spcAft>
              <a:buNone/>
            </a:pPr>
            <a:r>
              <a:t/>
            </a:r>
            <a:endParaRPr b="1" sz="1200">
              <a:solidFill>
                <a:schemeClr val="lt1"/>
              </a:solidFill>
            </a:endParaRPr>
          </a:p>
          <a:p>
            <a:pPr indent="0" lvl="0" marL="91440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t/>
            </a:r>
            <a:endParaRPr b="1" sz="1400">
              <a:solidFill>
                <a:schemeClr val="lt1"/>
              </a:solidFill>
            </a:endParaRPr>
          </a:p>
        </p:txBody>
      </p:sp>
      <p:cxnSp>
        <p:nvCxnSpPr>
          <p:cNvPr id="141" name="Google Shape;141;p20"/>
          <p:cNvCxnSpPr/>
          <p:nvPr/>
        </p:nvCxnSpPr>
        <p:spPr>
          <a:xfrm>
            <a:off x="4585600" y="966100"/>
            <a:ext cx="13500" cy="3578700"/>
          </a:xfrm>
          <a:prstGeom prst="straightConnector1">
            <a:avLst/>
          </a:prstGeom>
          <a:noFill/>
          <a:ln cap="flat" cmpd="sng" w="9525">
            <a:solidFill>
              <a:schemeClr val="lt1"/>
            </a:solidFill>
            <a:prstDash val="solid"/>
            <a:round/>
            <a:headEnd len="med" w="med" type="none"/>
            <a:tailEnd len="med" w="med" type="none"/>
          </a:ln>
        </p:spPr>
      </p:cxnSp>
      <p:sp>
        <p:nvSpPr>
          <p:cNvPr id="142" name="Google Shape;142;p20"/>
          <p:cNvSpPr txBox="1"/>
          <p:nvPr/>
        </p:nvSpPr>
        <p:spPr>
          <a:xfrm>
            <a:off x="4721650" y="838175"/>
            <a:ext cx="3965700" cy="395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nl" sz="1700">
                <a:solidFill>
                  <a:schemeClr val="lt1"/>
                </a:solidFill>
              </a:rPr>
              <a:t>Conclusion</a:t>
            </a:r>
            <a:endParaRPr b="1" sz="1700">
              <a:solidFill>
                <a:schemeClr val="lt1"/>
              </a:solidFill>
            </a:endParaRPr>
          </a:p>
          <a:p>
            <a:pPr indent="-298450" lvl="0" marL="457200" rtl="0" algn="l">
              <a:lnSpc>
                <a:spcPct val="115000"/>
              </a:lnSpc>
              <a:spcBef>
                <a:spcPts val="1200"/>
              </a:spcBef>
              <a:spcAft>
                <a:spcPts val="0"/>
              </a:spcAft>
              <a:buClr>
                <a:schemeClr val="lt1"/>
              </a:buClr>
              <a:buSzPts val="1100"/>
              <a:buChar char="●"/>
            </a:pPr>
            <a:r>
              <a:rPr lang="nl" sz="1100">
                <a:solidFill>
                  <a:schemeClr val="lt1"/>
                </a:solidFill>
              </a:rPr>
              <a:t>Large external liabilities are an important predictor of external financial crises.</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nl" sz="1100">
                <a:solidFill>
                  <a:schemeClr val="lt1"/>
                </a:solidFill>
              </a:rPr>
              <a:t>The relationship between external liabilities and crisis risk is non-linear, with sharp increases in vulnerability beyond certain levels.</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nl" sz="1100">
                <a:solidFill>
                  <a:schemeClr val="lt1"/>
                </a:solidFill>
              </a:rPr>
              <a:t>The composition of liabilities matters:</a:t>
            </a:r>
            <a:br>
              <a:rPr lang="nl" sz="1100">
                <a:solidFill>
                  <a:schemeClr val="lt1"/>
                </a:solidFill>
              </a:rPr>
            </a:br>
            <a:endParaRPr sz="1100">
              <a:solidFill>
                <a:schemeClr val="lt1"/>
              </a:solidFill>
            </a:endParaRPr>
          </a:p>
          <a:p>
            <a:pPr indent="-298450" lvl="1" marL="914400" rtl="0" algn="l">
              <a:lnSpc>
                <a:spcPct val="115000"/>
              </a:lnSpc>
              <a:spcBef>
                <a:spcPts val="0"/>
              </a:spcBef>
              <a:spcAft>
                <a:spcPts val="0"/>
              </a:spcAft>
              <a:buClr>
                <a:schemeClr val="lt1"/>
              </a:buClr>
              <a:buSzPts val="1100"/>
              <a:buChar char="○"/>
            </a:pPr>
            <a:r>
              <a:rPr lang="nl" sz="1100">
                <a:solidFill>
                  <a:schemeClr val="lt1"/>
                </a:solidFill>
              </a:rPr>
              <a:t>debt liabilities increase crisis risk</a:t>
            </a:r>
            <a:br>
              <a:rPr lang="nl" sz="1100">
                <a:solidFill>
                  <a:schemeClr val="lt1"/>
                </a:solidFill>
              </a:rPr>
            </a:br>
            <a:endParaRPr sz="1100">
              <a:solidFill>
                <a:schemeClr val="lt1"/>
              </a:solidFill>
            </a:endParaRPr>
          </a:p>
          <a:p>
            <a:pPr indent="-298450" lvl="1" marL="914400" rtl="0" algn="l">
              <a:lnSpc>
                <a:spcPct val="115000"/>
              </a:lnSpc>
              <a:spcBef>
                <a:spcPts val="0"/>
              </a:spcBef>
              <a:spcAft>
                <a:spcPts val="0"/>
              </a:spcAft>
              <a:buClr>
                <a:schemeClr val="lt1"/>
              </a:buClr>
              <a:buSzPts val="1100"/>
              <a:buChar char="○"/>
            </a:pPr>
            <a:r>
              <a:rPr lang="nl" sz="1100">
                <a:solidFill>
                  <a:schemeClr val="lt1"/>
                </a:solidFill>
              </a:rPr>
              <a:t>equity and FDI liabilities are less destabilizing.</a:t>
            </a:r>
            <a:br>
              <a:rPr lang="nl"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nl" sz="1100">
                <a:solidFill>
                  <a:schemeClr val="lt1"/>
                </a:solidFill>
              </a:rPr>
              <a:t>Monitoring countries’ external balance sheets is therefore crucial for assessing financial vulnerability.</a:t>
            </a:r>
            <a:endParaRPr sz="1100">
              <a:solidFill>
                <a:schemeClr val="lt1"/>
              </a:solidFill>
            </a:endParaRPr>
          </a:p>
          <a:p>
            <a:pPr indent="0" lvl="0" marL="457200" rtl="0" algn="l">
              <a:lnSpc>
                <a:spcPct val="115000"/>
              </a:lnSpc>
              <a:spcBef>
                <a:spcPts val="1200"/>
              </a:spcBef>
              <a:spcAft>
                <a:spcPts val="0"/>
              </a:spcAft>
              <a:buNone/>
            </a:pPr>
            <a:r>
              <a:t/>
            </a:r>
            <a:endParaRPr b="1" sz="1100">
              <a:solidFill>
                <a:schemeClr val="lt1"/>
              </a:solidFill>
            </a:endParaRPr>
          </a:p>
          <a:p>
            <a:pPr indent="0" lvl="0" marL="0" rtl="0" algn="l">
              <a:spcBef>
                <a:spcPts val="120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6" name="Shape 146"/>
        <p:cNvGrpSpPr/>
        <p:nvPr/>
      </p:nvGrpSpPr>
      <p:grpSpPr>
        <a:xfrm>
          <a:off x="0" y="0"/>
          <a:ext cx="0" cy="0"/>
          <a:chOff x="0" y="0"/>
          <a:chExt cx="0" cy="0"/>
        </a:xfrm>
      </p:grpSpPr>
      <p:sp>
        <p:nvSpPr>
          <p:cNvPr id="147" name="Google Shape;147;p21"/>
          <p:cNvSpPr txBox="1"/>
          <p:nvPr>
            <p:ph type="title"/>
          </p:nvPr>
        </p:nvSpPr>
        <p:spPr>
          <a:xfrm>
            <a:off x="486000" y="30075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References</a:t>
            </a:r>
            <a:endParaRPr b="1">
              <a:solidFill>
                <a:schemeClr val="lt1"/>
              </a:solidFill>
            </a:endParaRPr>
          </a:p>
        </p:txBody>
      </p:sp>
      <p:sp>
        <p:nvSpPr>
          <p:cNvPr id="148" name="Google Shape;148;p21"/>
          <p:cNvSpPr txBox="1"/>
          <p:nvPr>
            <p:ph idx="1" type="body"/>
          </p:nvPr>
        </p:nvSpPr>
        <p:spPr>
          <a:xfrm>
            <a:off x="486000" y="713000"/>
            <a:ext cx="8172000" cy="4648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hlink"/>
              </a:buClr>
              <a:buSzPts val="1100"/>
              <a:buFont typeface="Arial"/>
              <a:buNone/>
            </a:pPr>
            <a:r>
              <a:t/>
            </a:r>
            <a:endParaRPr sz="14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nl" sz="1400">
                <a:solidFill>
                  <a:schemeClr val="lt1"/>
                </a:solidFill>
              </a:rPr>
              <a:t>Berg, Andrew and Catherine Pattillo, 1999, “Are Currency Crises Predictable? A Test”, IMF</a:t>
            </a:r>
            <a:endParaRPr sz="1400">
              <a:solidFill>
                <a:schemeClr val="lt1"/>
              </a:solidFill>
            </a:endParaRPr>
          </a:p>
          <a:p>
            <a:pPr indent="457200" lvl="0" marL="0" rtl="0" algn="l">
              <a:lnSpc>
                <a:spcPct val="115000"/>
              </a:lnSpc>
              <a:spcBef>
                <a:spcPts val="0"/>
              </a:spcBef>
              <a:spcAft>
                <a:spcPts val="0"/>
              </a:spcAft>
              <a:buClr>
                <a:schemeClr val="hlink"/>
              </a:buClr>
              <a:buSzPts val="1100"/>
              <a:buFont typeface="Arial"/>
              <a:buNone/>
            </a:pPr>
            <a:r>
              <a:rPr lang="nl" sz="1400">
                <a:solidFill>
                  <a:schemeClr val="lt1"/>
                </a:solidFill>
              </a:rPr>
              <a:t>Staff Papers, 46, No. 2.</a:t>
            </a:r>
            <a:endParaRPr sz="14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4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nl" sz="1400">
                <a:solidFill>
                  <a:schemeClr val="lt1"/>
                </a:solidFill>
              </a:rPr>
              <a:t>Bussière. Matthieu and Marcel Fratzscher, 2006, “Towards a New Early Warning System of</a:t>
            </a:r>
            <a:endParaRPr sz="1400">
              <a:solidFill>
                <a:schemeClr val="lt1"/>
              </a:solidFill>
            </a:endParaRPr>
          </a:p>
          <a:p>
            <a:pPr indent="457200" lvl="0" marL="0" rtl="0" algn="l">
              <a:lnSpc>
                <a:spcPct val="115000"/>
              </a:lnSpc>
              <a:spcBef>
                <a:spcPts val="0"/>
              </a:spcBef>
              <a:spcAft>
                <a:spcPts val="0"/>
              </a:spcAft>
              <a:buClr>
                <a:schemeClr val="hlink"/>
              </a:buClr>
              <a:buSzPts val="1100"/>
              <a:buFont typeface="Arial"/>
              <a:buNone/>
            </a:pPr>
            <a:r>
              <a:rPr lang="nl" sz="1400">
                <a:solidFill>
                  <a:schemeClr val="lt1"/>
                </a:solidFill>
              </a:rPr>
              <a:t>Financial Crises”, Journal of International Money and Finance, 25(6), pp. 953-973.</a:t>
            </a:r>
            <a:endParaRPr sz="14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400">
              <a:solidFill>
                <a:schemeClr val="lt1"/>
              </a:solidFill>
            </a:endParaRPr>
          </a:p>
          <a:p>
            <a:pPr indent="0" lvl="0" marL="0" rtl="0" algn="l">
              <a:lnSpc>
                <a:spcPct val="87500"/>
              </a:lnSpc>
              <a:spcBef>
                <a:spcPts val="0"/>
              </a:spcBef>
              <a:spcAft>
                <a:spcPts val="0"/>
              </a:spcAft>
              <a:buClr>
                <a:schemeClr val="hlink"/>
              </a:buClr>
              <a:buSzPts val="1100"/>
              <a:buFont typeface="Arial"/>
              <a:buNone/>
            </a:pPr>
            <a:r>
              <a:rPr lang="nl" sz="1400">
                <a:solidFill>
                  <a:schemeClr val="lt1"/>
                </a:solidFill>
              </a:rPr>
              <a:t>Catão, L. A., &amp; Milesi-Ferretti, G. M. (2014). External liabilities and crises. Journal of</a:t>
            </a:r>
            <a:endParaRPr sz="1400">
              <a:solidFill>
                <a:schemeClr val="lt1"/>
              </a:solidFill>
            </a:endParaRPr>
          </a:p>
          <a:p>
            <a:pPr indent="457200" lvl="0" marL="0" rtl="0" algn="l">
              <a:lnSpc>
                <a:spcPct val="87500"/>
              </a:lnSpc>
              <a:spcBef>
                <a:spcPts val="0"/>
              </a:spcBef>
              <a:spcAft>
                <a:spcPts val="0"/>
              </a:spcAft>
              <a:buNone/>
            </a:pPr>
            <a:r>
              <a:rPr lang="nl" sz="1400">
                <a:solidFill>
                  <a:schemeClr val="lt1"/>
                </a:solidFill>
              </a:rPr>
              <a:t>International Economics, 94(1), 18-32.</a:t>
            </a:r>
            <a:endParaRPr sz="1400">
              <a:solidFill>
                <a:schemeClr val="lt1"/>
              </a:solidFill>
            </a:endParaRPr>
          </a:p>
          <a:p>
            <a:pPr indent="0" lvl="0" marL="0" rtl="0" algn="l">
              <a:lnSpc>
                <a:spcPct val="875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rPr lang="nl" sz="1400">
                <a:solidFill>
                  <a:schemeClr val="lt1"/>
                </a:solidFill>
              </a:rPr>
              <a:t>Gourinchas, Pierre-Olivier, and Maurice Obstfeld, 2012. "Stories of the Twentieth Century</a:t>
            </a:r>
            <a:endParaRPr sz="1400">
              <a:solidFill>
                <a:schemeClr val="lt1"/>
              </a:solidFill>
            </a:endParaRPr>
          </a:p>
          <a:p>
            <a:pPr indent="457200" lvl="0" marL="0" rtl="0" algn="l">
              <a:lnSpc>
                <a:spcPct val="115000"/>
              </a:lnSpc>
              <a:spcBef>
                <a:spcPts val="0"/>
              </a:spcBef>
              <a:spcAft>
                <a:spcPts val="0"/>
              </a:spcAft>
              <a:buNone/>
            </a:pPr>
            <a:r>
              <a:rPr lang="nl" sz="1400">
                <a:solidFill>
                  <a:schemeClr val="lt1"/>
                </a:solidFill>
              </a:rPr>
              <a:t>for the Twenty-First." American Economic Journal: Macroeconomics, 4(1): 226-65.</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rPr i="1" lang="nl" sz="1400">
                <a:solidFill>
                  <a:schemeClr val="lt1"/>
                </a:solidFill>
              </a:rPr>
              <a:t>Frankel, Jeffrey A., and Andrew K. Rose, 1996, “Currency Crashes in Emerging Markets:</a:t>
            </a:r>
            <a:endParaRPr i="1" sz="1400">
              <a:solidFill>
                <a:schemeClr val="lt1"/>
              </a:solidFill>
            </a:endParaRPr>
          </a:p>
          <a:p>
            <a:pPr indent="457200" lvl="0" marL="0" rtl="0" algn="l">
              <a:lnSpc>
                <a:spcPct val="115000"/>
              </a:lnSpc>
              <a:spcBef>
                <a:spcPts val="0"/>
              </a:spcBef>
              <a:spcAft>
                <a:spcPts val="0"/>
              </a:spcAft>
              <a:buNone/>
            </a:pPr>
            <a:r>
              <a:rPr i="1" lang="nl" sz="1400">
                <a:solidFill>
                  <a:schemeClr val="lt1"/>
                </a:solidFill>
              </a:rPr>
              <a:t>An Empirical Treatment,” Journal of International Economics, 41, pp. 351–66.</a:t>
            </a:r>
            <a:endParaRPr i="1" sz="1400">
              <a:solidFill>
                <a:schemeClr val="lt1"/>
              </a:solidFill>
            </a:endParaRPr>
          </a:p>
          <a:p>
            <a:pPr indent="-540000" lvl="0" marL="540000" rtl="0" algn="l">
              <a:lnSpc>
                <a:spcPct val="115000"/>
              </a:lnSpc>
              <a:spcBef>
                <a:spcPts val="1200"/>
              </a:spcBef>
              <a:spcAft>
                <a:spcPts val="0"/>
              </a:spcAft>
              <a:buClr>
                <a:schemeClr val="hlink"/>
              </a:buClr>
              <a:buSzPts val="1100"/>
              <a:buFont typeface="Arial"/>
              <a:buNone/>
            </a:pPr>
            <a:r>
              <a:rPr lang="nl" sz="1400">
                <a:solidFill>
                  <a:schemeClr val="lt1"/>
                </a:solidFill>
              </a:rPr>
              <a:t>Shularick, Moritz and Alan M. Taylor, 2012, “Credit Booms Gone Bust: Monetary Policy                  leverage Cycles, and Financial Crises, 1870-2008”, American Economic                              Review, 102(2), pp. 1029-61.</a:t>
            </a:r>
            <a:endParaRPr i="1"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87500"/>
              </a:lnSpc>
              <a:spcBef>
                <a:spcPts val="1200"/>
              </a:spcBef>
              <a:spcAft>
                <a:spcPts val="0"/>
              </a:spcAft>
              <a:buClr>
                <a:schemeClr val="hlink"/>
              </a:buClr>
              <a:buSzPts val="1100"/>
              <a:buFont typeface="Arial"/>
              <a:buNone/>
            </a:pPr>
            <a:r>
              <a:t/>
            </a:r>
            <a:endParaRPr sz="2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52" name="Shape 152"/>
        <p:cNvGrpSpPr/>
        <p:nvPr/>
      </p:nvGrpSpPr>
      <p:grpSpPr>
        <a:xfrm>
          <a:off x="0" y="0"/>
          <a:ext cx="0" cy="0"/>
          <a:chOff x="0" y="0"/>
          <a:chExt cx="0" cy="0"/>
        </a:xfrm>
      </p:grpSpPr>
      <p:sp>
        <p:nvSpPr>
          <p:cNvPr id="153" name="Google Shape;153;p22"/>
          <p:cNvSpPr txBox="1"/>
          <p:nvPr>
            <p:ph type="title"/>
          </p:nvPr>
        </p:nvSpPr>
        <p:spPr>
          <a:xfrm>
            <a:off x="486000" y="300750"/>
            <a:ext cx="8172000" cy="57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nl">
                <a:solidFill>
                  <a:schemeClr val="lt1"/>
                </a:solidFill>
              </a:rPr>
              <a:t>Appendix I</a:t>
            </a:r>
            <a:endParaRPr b="1">
              <a:solidFill>
                <a:schemeClr val="lt1"/>
              </a:solidFill>
            </a:endParaRPr>
          </a:p>
        </p:txBody>
      </p:sp>
      <p:sp>
        <p:nvSpPr>
          <p:cNvPr id="154" name="Google Shape;154;p22"/>
          <p:cNvSpPr txBox="1"/>
          <p:nvPr>
            <p:ph idx="1" type="body"/>
          </p:nvPr>
        </p:nvSpPr>
        <p:spPr>
          <a:xfrm>
            <a:off x="486000" y="713000"/>
            <a:ext cx="8172000" cy="4648200"/>
          </a:xfrm>
          <a:prstGeom prst="rect">
            <a:avLst/>
          </a:prstGeom>
        </p:spPr>
        <p:txBody>
          <a:bodyPr anchorCtr="0" anchor="t" bIns="0" lIns="0" spcFirstLastPara="1" rIns="0" wrap="square" tIns="0">
            <a:noAutofit/>
          </a:bodyPr>
          <a:lstStyle/>
          <a:p>
            <a:pPr indent="-540000" lvl="0" marL="540000" rtl="0" algn="l">
              <a:lnSpc>
                <a:spcPct val="115000"/>
              </a:lnSpc>
              <a:spcBef>
                <a:spcPts val="1200"/>
              </a:spcBef>
              <a:spcAft>
                <a:spcPts val="0"/>
              </a:spcAft>
              <a:buClr>
                <a:schemeClr val="hlink"/>
              </a:buClr>
              <a:buSzPts val="1100"/>
              <a:buFont typeface="Arial"/>
              <a:buNone/>
            </a:pPr>
            <a:r>
              <a:t/>
            </a:r>
            <a:endParaRPr i="1"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0"/>
              </a:spcBef>
              <a:spcAft>
                <a:spcPts val="0"/>
              </a:spcAft>
              <a:buNone/>
            </a:pPr>
            <a:r>
              <a:t/>
            </a:r>
            <a:endParaRPr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115000"/>
              </a:lnSpc>
              <a:spcBef>
                <a:spcPts val="1200"/>
              </a:spcBef>
              <a:spcAft>
                <a:spcPts val="0"/>
              </a:spcAft>
              <a:buNone/>
            </a:pPr>
            <a:r>
              <a:t/>
            </a:r>
            <a:endParaRPr sz="1400">
              <a:solidFill>
                <a:schemeClr val="lt1"/>
              </a:solidFill>
            </a:endParaRPr>
          </a:p>
          <a:p>
            <a:pPr indent="0" lvl="0" marL="0" rtl="0" algn="l">
              <a:lnSpc>
                <a:spcPct val="87500"/>
              </a:lnSpc>
              <a:spcBef>
                <a:spcPts val="1200"/>
              </a:spcBef>
              <a:spcAft>
                <a:spcPts val="0"/>
              </a:spcAft>
              <a:buClr>
                <a:schemeClr val="hlink"/>
              </a:buClr>
              <a:buSzPts val="1100"/>
              <a:buFont typeface="Arial"/>
              <a:buNone/>
            </a:pPr>
            <a:r>
              <a:t/>
            </a:r>
            <a:endParaRPr sz="2400">
              <a:solidFill>
                <a:schemeClr val="lt1"/>
              </a:solidFill>
            </a:endParaRPr>
          </a:p>
        </p:txBody>
      </p:sp>
      <p:pic>
        <p:nvPicPr>
          <p:cNvPr id="155" name="Google Shape;155;p22" title="Screenshot 2026-03-16 at 08.08.16.png"/>
          <p:cNvPicPr preferRelativeResize="0"/>
          <p:nvPr/>
        </p:nvPicPr>
        <p:blipFill>
          <a:blip r:embed="rId3">
            <a:alphaModFix/>
          </a:blip>
          <a:stretch>
            <a:fillRect/>
          </a:stretch>
        </p:blipFill>
        <p:spPr>
          <a:xfrm>
            <a:off x="486000" y="876750"/>
            <a:ext cx="3334074" cy="3651124"/>
          </a:xfrm>
          <a:prstGeom prst="rect">
            <a:avLst/>
          </a:prstGeom>
          <a:noFill/>
          <a:ln>
            <a:noFill/>
          </a:ln>
        </p:spPr>
      </p:pic>
      <p:pic>
        <p:nvPicPr>
          <p:cNvPr id="156" name="Google Shape;156;p22" title="Screenshot 2026-03-16 at 08.08.42.png"/>
          <p:cNvPicPr preferRelativeResize="0"/>
          <p:nvPr/>
        </p:nvPicPr>
        <p:blipFill>
          <a:blip r:embed="rId4">
            <a:alphaModFix/>
          </a:blip>
          <a:stretch>
            <a:fillRect/>
          </a:stretch>
        </p:blipFill>
        <p:spPr>
          <a:xfrm>
            <a:off x="5105950" y="876750"/>
            <a:ext cx="3454024" cy="36135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esentatie2 kopie">
  <a:themeElements>
    <a:clrScheme name="Erasmus Corporate 2020">
      <a:dk1>
        <a:srgbClr val="002328"/>
      </a:dk1>
      <a:lt1>
        <a:srgbClr val="FFFFFF"/>
      </a:lt1>
      <a:dk2>
        <a:srgbClr val="0C8066"/>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